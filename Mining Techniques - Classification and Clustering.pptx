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6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6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image" Target="../media/image31.png"/><Relationship Id="rId18" Type="http://schemas.openxmlformats.org/officeDocument/2006/relationships/image" Target="../media/image32.png"/><Relationship Id="rId19" Type="http://schemas.openxmlformats.org/officeDocument/2006/relationships/image" Target="../media/image33.png"/><Relationship Id="rId20" Type="http://schemas.openxmlformats.org/officeDocument/2006/relationships/image" Target="../media/image34.png"/><Relationship Id="rId21" Type="http://schemas.openxmlformats.org/officeDocument/2006/relationships/image" Target="../media/image3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6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45.png"/><Relationship Id="rId14" Type="http://schemas.openxmlformats.org/officeDocument/2006/relationships/image" Target="../media/image46.png"/><Relationship Id="rId15" Type="http://schemas.openxmlformats.org/officeDocument/2006/relationships/image" Target="../media/image4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6.png"/><Relationship Id="rId4" Type="http://schemas.openxmlformats.org/officeDocument/2006/relationships/image" Target="../media/image48.png"/><Relationship Id="rId5" Type="http://schemas.openxmlformats.org/officeDocument/2006/relationships/image" Target="../media/image6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6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6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Relationship Id="rId13" Type="http://schemas.openxmlformats.org/officeDocument/2006/relationships/image" Target="../media/image61.png"/><Relationship Id="rId14" Type="http://schemas.openxmlformats.org/officeDocument/2006/relationships/image" Target="../media/image62.png"/><Relationship Id="rId15" Type="http://schemas.openxmlformats.org/officeDocument/2006/relationships/image" Target="../media/image63.png"/><Relationship Id="rId16" Type="http://schemas.openxmlformats.org/officeDocument/2006/relationships/image" Target="../media/image64.png"/><Relationship Id="rId17" Type="http://schemas.openxmlformats.org/officeDocument/2006/relationships/image" Target="../media/image6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0.png"/><Relationship Id="rId9" Type="http://schemas.openxmlformats.org/officeDocument/2006/relationships/image" Target="../media/image71.png"/><Relationship Id="rId10" Type="http://schemas.openxmlformats.org/officeDocument/2006/relationships/image" Target="../media/image72.png"/><Relationship Id="rId11" Type="http://schemas.openxmlformats.org/officeDocument/2006/relationships/image" Target="../media/image73.png"/><Relationship Id="rId12" Type="http://schemas.openxmlformats.org/officeDocument/2006/relationships/image" Target="../media/image74.png"/><Relationship Id="rId13" Type="http://schemas.openxmlformats.org/officeDocument/2006/relationships/image" Target="../media/image75.png"/><Relationship Id="rId14" Type="http://schemas.openxmlformats.org/officeDocument/2006/relationships/image" Target="../media/image76.png"/><Relationship Id="rId15" Type="http://schemas.openxmlformats.org/officeDocument/2006/relationships/image" Target="../media/image6.png"/><Relationship Id="rId16" Type="http://schemas.openxmlformats.org/officeDocument/2006/relationships/image" Target="../media/image77.png"/><Relationship Id="rId17" Type="http://schemas.openxmlformats.org/officeDocument/2006/relationships/image" Target="../media/image78.png"/><Relationship Id="rId18" Type="http://schemas.openxmlformats.org/officeDocument/2006/relationships/image" Target="../media/image79.png"/><Relationship Id="rId19" Type="http://schemas.openxmlformats.org/officeDocument/2006/relationships/image" Target="../media/image80.png"/><Relationship Id="rId20" Type="http://schemas.openxmlformats.org/officeDocument/2006/relationships/image" Target="../media/image8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85.png"/><Relationship Id="rId8" Type="http://schemas.openxmlformats.org/officeDocument/2006/relationships/image" Target="../media/image86.png"/><Relationship Id="rId9" Type="http://schemas.openxmlformats.org/officeDocument/2006/relationships/image" Target="../media/image87.png"/><Relationship Id="rId10" Type="http://schemas.openxmlformats.org/officeDocument/2006/relationships/image" Target="../media/image6.png"/><Relationship Id="rId11" Type="http://schemas.openxmlformats.org/officeDocument/2006/relationships/image" Target="../media/image88.png"/><Relationship Id="rId12" Type="http://schemas.openxmlformats.org/officeDocument/2006/relationships/image" Target="../media/image89.png"/><Relationship Id="rId13" Type="http://schemas.openxmlformats.org/officeDocument/2006/relationships/image" Target="../media/image90.png"/><Relationship Id="rId14" Type="http://schemas.openxmlformats.org/officeDocument/2006/relationships/image" Target="../media/image9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6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6.png"/><Relationship Id="rId10" Type="http://schemas.openxmlformats.org/officeDocument/2006/relationships/image" Target="../media/image97.png"/><Relationship Id="rId11" Type="http://schemas.openxmlformats.org/officeDocument/2006/relationships/image" Target="../media/image98.png"/><Relationship Id="rId12" Type="http://schemas.openxmlformats.org/officeDocument/2006/relationships/image" Target="../media/image99.png"/><Relationship Id="rId13" Type="http://schemas.openxmlformats.org/officeDocument/2006/relationships/image" Target="../media/image10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101.png"/><Relationship Id="rId5" Type="http://schemas.openxmlformats.org/officeDocument/2006/relationships/image" Target="../media/image102.png"/><Relationship Id="rId6" Type="http://schemas.openxmlformats.org/officeDocument/2006/relationships/image" Target="../media/image103.png"/><Relationship Id="rId7" Type="http://schemas.openxmlformats.org/officeDocument/2006/relationships/image" Target="../media/image6.png"/><Relationship Id="rId8" Type="http://schemas.openxmlformats.org/officeDocument/2006/relationships/image" Target="../media/image104.png"/><Relationship Id="rId9" Type="http://schemas.openxmlformats.org/officeDocument/2006/relationships/image" Target="../media/image105.png"/><Relationship Id="rId10" Type="http://schemas.openxmlformats.org/officeDocument/2006/relationships/image" Target="../media/image106.png"/><Relationship Id="rId11" Type="http://schemas.openxmlformats.org/officeDocument/2006/relationships/image" Target="../media/image107.png"/><Relationship Id="rId12" Type="http://schemas.openxmlformats.org/officeDocument/2006/relationships/image" Target="../media/image108.png"/><Relationship Id="rId13" Type="http://schemas.openxmlformats.org/officeDocument/2006/relationships/image" Target="../media/image10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png"/><Relationship Id="rId3" Type="http://schemas.openxmlformats.org/officeDocument/2006/relationships/image" Target="../media/image2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Relationship Id="rId6" Type="http://schemas.openxmlformats.org/officeDocument/2006/relationships/image" Target="../media/image113.png"/><Relationship Id="rId7" Type="http://schemas.openxmlformats.org/officeDocument/2006/relationships/image" Target="../media/image114.png"/><Relationship Id="rId8" Type="http://schemas.openxmlformats.org/officeDocument/2006/relationships/image" Target="../media/image115.png"/><Relationship Id="rId9" Type="http://schemas.openxmlformats.org/officeDocument/2006/relationships/image" Target="../media/image6.png"/><Relationship Id="rId10" Type="http://schemas.openxmlformats.org/officeDocument/2006/relationships/image" Target="../media/image116.png"/><Relationship Id="rId11" Type="http://schemas.openxmlformats.org/officeDocument/2006/relationships/image" Target="../media/image117.png"/><Relationship Id="rId12" Type="http://schemas.openxmlformats.org/officeDocument/2006/relationships/image" Target="../media/image1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119.png"/><Relationship Id="rId5" Type="http://schemas.openxmlformats.org/officeDocument/2006/relationships/image" Target="../media/image120.png"/><Relationship Id="rId6" Type="http://schemas.openxmlformats.org/officeDocument/2006/relationships/image" Target="../media/image121.png"/><Relationship Id="rId7" Type="http://schemas.openxmlformats.org/officeDocument/2006/relationships/image" Target="../media/image122.png"/><Relationship Id="rId8" Type="http://schemas.openxmlformats.org/officeDocument/2006/relationships/image" Target="../media/image6.png"/><Relationship Id="rId9" Type="http://schemas.openxmlformats.org/officeDocument/2006/relationships/image" Target="../media/image123.png"/><Relationship Id="rId10" Type="http://schemas.openxmlformats.org/officeDocument/2006/relationships/image" Target="../media/image124.png"/><Relationship Id="rId11" Type="http://schemas.openxmlformats.org/officeDocument/2006/relationships/image" Target="../media/image1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126.png"/><Relationship Id="rId5" Type="http://schemas.openxmlformats.org/officeDocument/2006/relationships/image" Target="../media/image127.png"/><Relationship Id="rId6" Type="http://schemas.openxmlformats.org/officeDocument/2006/relationships/image" Target="../media/image128.png"/><Relationship Id="rId7" Type="http://schemas.openxmlformats.org/officeDocument/2006/relationships/image" Target="../media/image129.png"/><Relationship Id="rId8" Type="http://schemas.openxmlformats.org/officeDocument/2006/relationships/image" Target="../media/image130.png"/><Relationship Id="rId9" Type="http://schemas.openxmlformats.org/officeDocument/2006/relationships/image" Target="../media/image131.png"/><Relationship Id="rId10" Type="http://schemas.openxmlformats.org/officeDocument/2006/relationships/image" Target="../media/image132.png"/><Relationship Id="rId11" Type="http://schemas.openxmlformats.org/officeDocument/2006/relationships/image" Target="../media/image133.png"/><Relationship Id="rId12" Type="http://schemas.openxmlformats.org/officeDocument/2006/relationships/image" Target="../media/image134.png"/><Relationship Id="rId13" Type="http://schemas.openxmlformats.org/officeDocument/2006/relationships/image" Target="../media/image135.png"/><Relationship Id="rId14" Type="http://schemas.openxmlformats.org/officeDocument/2006/relationships/image" Target="../media/image6.png"/><Relationship Id="rId15" Type="http://schemas.openxmlformats.org/officeDocument/2006/relationships/image" Target="../media/image136.png"/><Relationship Id="rId16" Type="http://schemas.openxmlformats.org/officeDocument/2006/relationships/image" Target="../media/image137.png"/><Relationship Id="rId17" Type="http://schemas.openxmlformats.org/officeDocument/2006/relationships/image" Target="../media/image79.png"/><Relationship Id="rId18" Type="http://schemas.openxmlformats.org/officeDocument/2006/relationships/image" Target="../media/image138.png"/><Relationship Id="rId19" Type="http://schemas.openxmlformats.org/officeDocument/2006/relationships/image" Target="../media/image139.png"/><Relationship Id="rId20" Type="http://schemas.openxmlformats.org/officeDocument/2006/relationships/image" Target="../media/image140.png"/><Relationship Id="rId21" Type="http://schemas.openxmlformats.org/officeDocument/2006/relationships/image" Target="../media/image1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6.png"/><Relationship Id="rId4" Type="http://schemas.openxmlformats.org/officeDocument/2006/relationships/image" Target="../media/image142.png"/><Relationship Id="rId5" Type="http://schemas.openxmlformats.org/officeDocument/2006/relationships/image" Target="../media/image143.png"/><Relationship Id="rId6" Type="http://schemas.openxmlformats.org/officeDocument/2006/relationships/image" Target="../media/image144.png"/><Relationship Id="rId7" Type="http://schemas.openxmlformats.org/officeDocument/2006/relationships/image" Target="../media/image145.png"/><Relationship Id="rId8" Type="http://schemas.openxmlformats.org/officeDocument/2006/relationships/image" Target="../media/image146.png"/><Relationship Id="rId9" Type="http://schemas.openxmlformats.org/officeDocument/2006/relationships/image" Target="../media/image6.png"/><Relationship Id="rId10" Type="http://schemas.openxmlformats.org/officeDocument/2006/relationships/image" Target="../media/image147.png"/><Relationship Id="rId11" Type="http://schemas.openxmlformats.org/officeDocument/2006/relationships/image" Target="../media/image148.png"/><Relationship Id="rId12" Type="http://schemas.openxmlformats.org/officeDocument/2006/relationships/image" Target="../media/image149.png"/><Relationship Id="rId13" Type="http://schemas.openxmlformats.org/officeDocument/2006/relationships/image" Target="../media/image150.png"/><Relationship Id="rId14" Type="http://schemas.openxmlformats.org/officeDocument/2006/relationships/image" Target="../media/image1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152.png"/><Relationship Id="rId5" Type="http://schemas.openxmlformats.org/officeDocument/2006/relationships/image" Target="../media/image153.png"/><Relationship Id="rId6" Type="http://schemas.openxmlformats.org/officeDocument/2006/relationships/image" Target="../media/image154.png"/><Relationship Id="rId7" Type="http://schemas.openxmlformats.org/officeDocument/2006/relationships/image" Target="../media/image155.png"/><Relationship Id="rId8" Type="http://schemas.openxmlformats.org/officeDocument/2006/relationships/image" Target="../media/image156.png"/><Relationship Id="rId9" Type="http://schemas.openxmlformats.org/officeDocument/2006/relationships/image" Target="../media/image6.png"/><Relationship Id="rId10" Type="http://schemas.openxmlformats.org/officeDocument/2006/relationships/image" Target="../media/image157.png"/><Relationship Id="rId11" Type="http://schemas.openxmlformats.org/officeDocument/2006/relationships/image" Target="../media/image158.png"/><Relationship Id="rId12" Type="http://schemas.openxmlformats.org/officeDocument/2006/relationships/image" Target="../media/image159.png"/><Relationship Id="rId13" Type="http://schemas.openxmlformats.org/officeDocument/2006/relationships/image" Target="../media/image160.png"/><Relationship Id="rId14" Type="http://schemas.openxmlformats.org/officeDocument/2006/relationships/image" Target="../media/image161.png"/><Relationship Id="rId15" Type="http://schemas.openxmlformats.org/officeDocument/2006/relationships/image" Target="../media/image162.png"/><Relationship Id="rId16" Type="http://schemas.openxmlformats.org/officeDocument/2006/relationships/image" Target="../media/image16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4.png"/><Relationship Id="rId3" Type="http://schemas.openxmlformats.org/officeDocument/2006/relationships/image" Target="../media/image36.png"/><Relationship Id="rId4" Type="http://schemas.openxmlformats.org/officeDocument/2006/relationships/image" Target="../media/image165.png"/><Relationship Id="rId5" Type="http://schemas.openxmlformats.org/officeDocument/2006/relationships/image" Target="../media/image112.png"/><Relationship Id="rId6" Type="http://schemas.openxmlformats.org/officeDocument/2006/relationships/image" Target="../media/image166.png"/><Relationship Id="rId7" Type="http://schemas.openxmlformats.org/officeDocument/2006/relationships/image" Target="../media/image167.png"/><Relationship Id="rId8" Type="http://schemas.openxmlformats.org/officeDocument/2006/relationships/image" Target="../media/image6.png"/><Relationship Id="rId9" Type="http://schemas.openxmlformats.org/officeDocument/2006/relationships/image" Target="../media/image116.png"/><Relationship Id="rId10" Type="http://schemas.openxmlformats.org/officeDocument/2006/relationships/image" Target="../media/image117.png"/><Relationship Id="rId11" Type="http://schemas.openxmlformats.org/officeDocument/2006/relationships/image" Target="../media/image1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6.png"/><Relationship Id="rId4" Type="http://schemas.openxmlformats.org/officeDocument/2006/relationships/image" Target="../media/image168.png"/><Relationship Id="rId5" Type="http://schemas.openxmlformats.org/officeDocument/2006/relationships/image" Target="../media/image169.png"/><Relationship Id="rId6" Type="http://schemas.openxmlformats.org/officeDocument/2006/relationships/image" Target="../media/image170.png"/><Relationship Id="rId7" Type="http://schemas.openxmlformats.org/officeDocument/2006/relationships/image" Target="../media/image171.png"/><Relationship Id="rId8" Type="http://schemas.openxmlformats.org/officeDocument/2006/relationships/image" Target="../media/image172.png"/><Relationship Id="rId9" Type="http://schemas.openxmlformats.org/officeDocument/2006/relationships/image" Target="../media/image6.png"/><Relationship Id="rId10" Type="http://schemas.openxmlformats.org/officeDocument/2006/relationships/image" Target="../media/image173.png"/><Relationship Id="rId11" Type="http://schemas.openxmlformats.org/officeDocument/2006/relationships/image" Target="../media/image174.png"/><Relationship Id="rId12" Type="http://schemas.openxmlformats.org/officeDocument/2006/relationships/image" Target="../media/image175.png"/><Relationship Id="rId13" Type="http://schemas.openxmlformats.org/officeDocument/2006/relationships/image" Target="../media/image17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6.png"/><Relationship Id="rId4" Type="http://schemas.openxmlformats.org/officeDocument/2006/relationships/image" Target="../media/image177.png"/><Relationship Id="rId5" Type="http://schemas.openxmlformats.org/officeDocument/2006/relationships/image" Target="../media/image178.png"/><Relationship Id="rId6" Type="http://schemas.openxmlformats.org/officeDocument/2006/relationships/image" Target="../media/image179.png"/><Relationship Id="rId7" Type="http://schemas.openxmlformats.org/officeDocument/2006/relationships/image" Target="../media/image180.png"/><Relationship Id="rId8" Type="http://schemas.openxmlformats.org/officeDocument/2006/relationships/image" Target="../media/image181.png"/><Relationship Id="rId9" Type="http://schemas.openxmlformats.org/officeDocument/2006/relationships/image" Target="../media/image182.png"/><Relationship Id="rId10" Type="http://schemas.openxmlformats.org/officeDocument/2006/relationships/image" Target="../media/image6.png"/><Relationship Id="rId11" Type="http://schemas.openxmlformats.org/officeDocument/2006/relationships/image" Target="../media/image183.png"/><Relationship Id="rId12" Type="http://schemas.openxmlformats.org/officeDocument/2006/relationships/image" Target="../media/image184.png"/><Relationship Id="rId13" Type="http://schemas.openxmlformats.org/officeDocument/2006/relationships/image" Target="../media/image185.png"/><Relationship Id="rId14" Type="http://schemas.openxmlformats.org/officeDocument/2006/relationships/image" Target="../media/image18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6.png"/><Relationship Id="rId4" Type="http://schemas.openxmlformats.org/officeDocument/2006/relationships/image" Target="../media/image187.png"/><Relationship Id="rId5" Type="http://schemas.openxmlformats.org/officeDocument/2006/relationships/image" Target="../media/image188.png"/><Relationship Id="rId6" Type="http://schemas.openxmlformats.org/officeDocument/2006/relationships/image" Target="../media/image189.png"/><Relationship Id="rId7" Type="http://schemas.openxmlformats.org/officeDocument/2006/relationships/image" Target="../media/image190.png"/><Relationship Id="rId8" Type="http://schemas.openxmlformats.org/officeDocument/2006/relationships/image" Target="../media/image6.png"/><Relationship Id="rId9" Type="http://schemas.openxmlformats.org/officeDocument/2006/relationships/image" Target="../media/image191.png"/><Relationship Id="rId10" Type="http://schemas.openxmlformats.org/officeDocument/2006/relationships/image" Target="../media/image192.png"/><Relationship Id="rId11" Type="http://schemas.openxmlformats.org/officeDocument/2006/relationships/image" Target="../media/image193.png"/><Relationship Id="rId12" Type="http://schemas.openxmlformats.org/officeDocument/2006/relationships/image" Target="../media/image194.png"/><Relationship Id="rId13" Type="http://schemas.openxmlformats.org/officeDocument/2006/relationships/image" Target="../media/image19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196.png"/><Relationship Id="rId5" Type="http://schemas.openxmlformats.org/officeDocument/2006/relationships/image" Target="../media/image197.png"/><Relationship Id="rId6" Type="http://schemas.openxmlformats.org/officeDocument/2006/relationships/image" Target="../media/image198.png"/><Relationship Id="rId7" Type="http://schemas.openxmlformats.org/officeDocument/2006/relationships/image" Target="../media/image199.png"/><Relationship Id="rId8" Type="http://schemas.openxmlformats.org/officeDocument/2006/relationships/image" Target="../media/image200.png"/><Relationship Id="rId9" Type="http://schemas.openxmlformats.org/officeDocument/2006/relationships/image" Target="../media/image201.png"/><Relationship Id="rId10" Type="http://schemas.openxmlformats.org/officeDocument/2006/relationships/image" Target="../media/image202.png"/><Relationship Id="rId11" Type="http://schemas.openxmlformats.org/officeDocument/2006/relationships/image" Target="../media/image74.png"/><Relationship Id="rId12" Type="http://schemas.openxmlformats.org/officeDocument/2006/relationships/image" Target="../media/image75.png"/><Relationship Id="rId13" Type="http://schemas.openxmlformats.org/officeDocument/2006/relationships/image" Target="../media/image203.png"/><Relationship Id="rId14" Type="http://schemas.openxmlformats.org/officeDocument/2006/relationships/image" Target="../media/image6.png"/><Relationship Id="rId15" Type="http://schemas.openxmlformats.org/officeDocument/2006/relationships/image" Target="../media/image204.png"/><Relationship Id="rId16" Type="http://schemas.openxmlformats.org/officeDocument/2006/relationships/image" Target="../media/image205.png"/><Relationship Id="rId17" Type="http://schemas.openxmlformats.org/officeDocument/2006/relationships/image" Target="../media/image79.png"/><Relationship Id="rId18" Type="http://schemas.openxmlformats.org/officeDocument/2006/relationships/image" Target="../media/image206.png"/><Relationship Id="rId19" Type="http://schemas.openxmlformats.org/officeDocument/2006/relationships/image" Target="../media/image20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8.png"/><Relationship Id="rId3" Type="http://schemas.openxmlformats.org/officeDocument/2006/relationships/image" Target="../media/image36.png"/><Relationship Id="rId4" Type="http://schemas.openxmlformats.org/officeDocument/2006/relationships/image" Target="../media/image209.png"/><Relationship Id="rId5" Type="http://schemas.openxmlformats.org/officeDocument/2006/relationships/image" Target="../media/image210.png"/><Relationship Id="rId6" Type="http://schemas.openxmlformats.org/officeDocument/2006/relationships/image" Target="../media/image166.png"/><Relationship Id="rId7" Type="http://schemas.openxmlformats.org/officeDocument/2006/relationships/image" Target="../media/image211.png"/><Relationship Id="rId8" Type="http://schemas.openxmlformats.org/officeDocument/2006/relationships/image" Target="../media/image6.png"/><Relationship Id="rId9" Type="http://schemas.openxmlformats.org/officeDocument/2006/relationships/image" Target="../media/image116.png"/><Relationship Id="rId10" Type="http://schemas.openxmlformats.org/officeDocument/2006/relationships/image" Target="../media/image117.png"/><Relationship Id="rId11" Type="http://schemas.openxmlformats.org/officeDocument/2006/relationships/image" Target="../media/image1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212.png"/><Relationship Id="rId5" Type="http://schemas.openxmlformats.org/officeDocument/2006/relationships/image" Target="../media/image213.png"/><Relationship Id="rId6" Type="http://schemas.openxmlformats.org/officeDocument/2006/relationships/image" Target="../media/image6.png"/><Relationship Id="rId7" Type="http://schemas.openxmlformats.org/officeDocument/2006/relationships/image" Target="../media/image214.png"/><Relationship Id="rId8" Type="http://schemas.openxmlformats.org/officeDocument/2006/relationships/image" Target="../media/image215.png"/><Relationship Id="rId9" Type="http://schemas.openxmlformats.org/officeDocument/2006/relationships/image" Target="../media/image216.png"/><Relationship Id="rId10" Type="http://schemas.openxmlformats.org/officeDocument/2006/relationships/image" Target="../media/image2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218.png"/><Relationship Id="rId5" Type="http://schemas.openxmlformats.org/officeDocument/2006/relationships/image" Target="../media/image219.png"/><Relationship Id="rId6" Type="http://schemas.openxmlformats.org/officeDocument/2006/relationships/image" Target="../media/image220.png"/><Relationship Id="rId7" Type="http://schemas.openxmlformats.org/officeDocument/2006/relationships/image" Target="../media/image221.png"/><Relationship Id="rId8" Type="http://schemas.openxmlformats.org/officeDocument/2006/relationships/image" Target="../media/image6.png"/><Relationship Id="rId9" Type="http://schemas.openxmlformats.org/officeDocument/2006/relationships/image" Target="../media/image222.png"/><Relationship Id="rId10" Type="http://schemas.openxmlformats.org/officeDocument/2006/relationships/image" Target="../media/image124.png"/><Relationship Id="rId11" Type="http://schemas.openxmlformats.org/officeDocument/2006/relationships/image" Target="../media/image2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6.png"/><Relationship Id="rId4" Type="http://schemas.openxmlformats.org/officeDocument/2006/relationships/image" Target="../media/image224.png"/><Relationship Id="rId5" Type="http://schemas.openxmlformats.org/officeDocument/2006/relationships/image" Target="../media/image225.png"/><Relationship Id="rId6" Type="http://schemas.openxmlformats.org/officeDocument/2006/relationships/image" Target="../media/image226.png"/><Relationship Id="rId7" Type="http://schemas.openxmlformats.org/officeDocument/2006/relationships/image" Target="../media/image227.png"/><Relationship Id="rId8" Type="http://schemas.openxmlformats.org/officeDocument/2006/relationships/image" Target="../media/image6.png"/><Relationship Id="rId9" Type="http://schemas.openxmlformats.org/officeDocument/2006/relationships/image" Target="../media/image228.png"/><Relationship Id="rId10" Type="http://schemas.openxmlformats.org/officeDocument/2006/relationships/image" Target="../media/image229.png"/><Relationship Id="rId11" Type="http://schemas.openxmlformats.org/officeDocument/2006/relationships/image" Target="../media/image17.png"/><Relationship Id="rId12" Type="http://schemas.openxmlformats.org/officeDocument/2006/relationships/image" Target="../media/image23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177.png"/><Relationship Id="rId5" Type="http://schemas.openxmlformats.org/officeDocument/2006/relationships/image" Target="../media/image231.png"/><Relationship Id="rId6" Type="http://schemas.openxmlformats.org/officeDocument/2006/relationships/image" Target="../media/image232.png"/><Relationship Id="rId7" Type="http://schemas.openxmlformats.org/officeDocument/2006/relationships/image" Target="../media/image233.png"/><Relationship Id="rId8" Type="http://schemas.openxmlformats.org/officeDocument/2006/relationships/image" Target="../media/image234.png"/><Relationship Id="rId9" Type="http://schemas.openxmlformats.org/officeDocument/2006/relationships/image" Target="../media/image235.png"/><Relationship Id="rId10" Type="http://schemas.openxmlformats.org/officeDocument/2006/relationships/image" Target="../media/image6.png"/><Relationship Id="rId11" Type="http://schemas.openxmlformats.org/officeDocument/2006/relationships/image" Target="../media/image236.png"/><Relationship Id="rId12" Type="http://schemas.openxmlformats.org/officeDocument/2006/relationships/image" Target="../media/image237.png"/><Relationship Id="rId13" Type="http://schemas.openxmlformats.org/officeDocument/2006/relationships/image" Target="../media/image238.png"/><Relationship Id="rId14" Type="http://schemas.openxmlformats.org/officeDocument/2006/relationships/image" Target="../media/image23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6.png"/><Relationship Id="rId4" Type="http://schemas.openxmlformats.org/officeDocument/2006/relationships/image" Target="../media/image240.png"/><Relationship Id="rId5" Type="http://schemas.openxmlformats.org/officeDocument/2006/relationships/image" Target="../media/image241.png"/><Relationship Id="rId6" Type="http://schemas.openxmlformats.org/officeDocument/2006/relationships/image" Target="../media/image242.png"/><Relationship Id="rId7" Type="http://schemas.openxmlformats.org/officeDocument/2006/relationships/image" Target="../media/image243.png"/><Relationship Id="rId8" Type="http://schemas.openxmlformats.org/officeDocument/2006/relationships/image" Target="../media/image244.png"/><Relationship Id="rId9" Type="http://schemas.openxmlformats.org/officeDocument/2006/relationships/image" Target="../media/image245.png"/><Relationship Id="rId10" Type="http://schemas.openxmlformats.org/officeDocument/2006/relationships/image" Target="../media/image6.png"/><Relationship Id="rId11" Type="http://schemas.openxmlformats.org/officeDocument/2006/relationships/image" Target="../media/image246.png"/><Relationship Id="rId12" Type="http://schemas.openxmlformats.org/officeDocument/2006/relationships/image" Target="../media/image247.png"/><Relationship Id="rId13" Type="http://schemas.openxmlformats.org/officeDocument/2006/relationships/image" Target="../media/image248.png"/><Relationship Id="rId14" Type="http://schemas.openxmlformats.org/officeDocument/2006/relationships/image" Target="../media/image249.png"/><Relationship Id="rId15" Type="http://schemas.openxmlformats.org/officeDocument/2006/relationships/image" Target="../media/image250.png"/><Relationship Id="rId16" Type="http://schemas.openxmlformats.org/officeDocument/2006/relationships/image" Target="../media/image25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252.png"/><Relationship Id="rId5" Type="http://schemas.openxmlformats.org/officeDocument/2006/relationships/image" Target="../media/image253.png"/><Relationship Id="rId6" Type="http://schemas.openxmlformats.org/officeDocument/2006/relationships/image" Target="../media/image254.png"/><Relationship Id="rId7" Type="http://schemas.openxmlformats.org/officeDocument/2006/relationships/image" Target="../media/image6.png"/><Relationship Id="rId8" Type="http://schemas.openxmlformats.org/officeDocument/2006/relationships/image" Target="../media/image255.png"/><Relationship Id="rId9" Type="http://schemas.openxmlformats.org/officeDocument/2006/relationships/image" Target="../media/image256.png"/><Relationship Id="rId10" Type="http://schemas.openxmlformats.org/officeDocument/2006/relationships/image" Target="../media/image257.png"/><Relationship Id="rId11" Type="http://schemas.openxmlformats.org/officeDocument/2006/relationships/image" Target="../media/image258.png"/><Relationship Id="rId12" Type="http://schemas.openxmlformats.org/officeDocument/2006/relationships/image" Target="../media/image25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0.png"/><Relationship Id="rId3" Type="http://schemas.openxmlformats.org/officeDocument/2006/relationships/image" Target="../media/image36.png"/><Relationship Id="rId4" Type="http://schemas.openxmlformats.org/officeDocument/2006/relationships/image" Target="../media/image261.png"/><Relationship Id="rId5" Type="http://schemas.openxmlformats.org/officeDocument/2006/relationships/image" Target="../media/image210.png"/><Relationship Id="rId6" Type="http://schemas.openxmlformats.org/officeDocument/2006/relationships/image" Target="../media/image166.png"/><Relationship Id="rId7" Type="http://schemas.openxmlformats.org/officeDocument/2006/relationships/image" Target="../media/image262.png"/><Relationship Id="rId8" Type="http://schemas.openxmlformats.org/officeDocument/2006/relationships/image" Target="../media/image6.png"/><Relationship Id="rId9" Type="http://schemas.openxmlformats.org/officeDocument/2006/relationships/image" Target="../media/image116.png"/><Relationship Id="rId10" Type="http://schemas.openxmlformats.org/officeDocument/2006/relationships/image" Target="../media/image117.png"/><Relationship Id="rId11" Type="http://schemas.openxmlformats.org/officeDocument/2006/relationships/image" Target="../media/image11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6.png"/><Relationship Id="rId4" Type="http://schemas.openxmlformats.org/officeDocument/2006/relationships/image" Target="../media/image263.png"/><Relationship Id="rId5" Type="http://schemas.openxmlformats.org/officeDocument/2006/relationships/image" Target="../media/image264.png"/><Relationship Id="rId6" Type="http://schemas.openxmlformats.org/officeDocument/2006/relationships/image" Target="../media/image265.png"/><Relationship Id="rId7" Type="http://schemas.openxmlformats.org/officeDocument/2006/relationships/image" Target="../media/image266.png"/><Relationship Id="rId8" Type="http://schemas.openxmlformats.org/officeDocument/2006/relationships/image" Target="../media/image6.png"/><Relationship Id="rId9" Type="http://schemas.openxmlformats.org/officeDocument/2006/relationships/image" Target="../media/image267.png"/><Relationship Id="rId10" Type="http://schemas.openxmlformats.org/officeDocument/2006/relationships/image" Target="../media/image268.png"/><Relationship Id="rId11" Type="http://schemas.openxmlformats.org/officeDocument/2006/relationships/image" Target="../media/image26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6.png"/><Relationship Id="rId4" Type="http://schemas.openxmlformats.org/officeDocument/2006/relationships/image" Target="../media/image270.png"/><Relationship Id="rId5" Type="http://schemas.openxmlformats.org/officeDocument/2006/relationships/image" Target="../media/image271.png"/><Relationship Id="rId6" Type="http://schemas.openxmlformats.org/officeDocument/2006/relationships/image" Target="../media/image272.png"/><Relationship Id="rId7" Type="http://schemas.openxmlformats.org/officeDocument/2006/relationships/image" Target="../media/image273.png"/><Relationship Id="rId8" Type="http://schemas.openxmlformats.org/officeDocument/2006/relationships/image" Target="../media/image6.png"/><Relationship Id="rId9" Type="http://schemas.openxmlformats.org/officeDocument/2006/relationships/image" Target="../media/image274.png"/><Relationship Id="rId10" Type="http://schemas.openxmlformats.org/officeDocument/2006/relationships/image" Target="../media/image275.png"/><Relationship Id="rId11" Type="http://schemas.openxmlformats.org/officeDocument/2006/relationships/image" Target="../media/image27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7.png"/><Relationship Id="rId3" Type="http://schemas.openxmlformats.org/officeDocument/2006/relationships/image" Target="../media/image2.png"/><Relationship Id="rId4" Type="http://schemas.openxmlformats.org/officeDocument/2006/relationships/image" Target="../media/image278.png"/><Relationship Id="rId5" Type="http://schemas.openxmlformats.org/officeDocument/2006/relationships/image" Target="../media/image279.png"/><Relationship Id="rId6" Type="http://schemas.openxmlformats.org/officeDocument/2006/relationships/image" Target="../media/image166.png"/><Relationship Id="rId7" Type="http://schemas.openxmlformats.org/officeDocument/2006/relationships/image" Target="../media/image280.png"/><Relationship Id="rId8" Type="http://schemas.openxmlformats.org/officeDocument/2006/relationships/image" Target="../media/image6.png"/><Relationship Id="rId9" Type="http://schemas.openxmlformats.org/officeDocument/2006/relationships/image" Target="../media/image116.png"/><Relationship Id="rId10" Type="http://schemas.openxmlformats.org/officeDocument/2006/relationships/image" Target="../media/image117.png"/><Relationship Id="rId11" Type="http://schemas.openxmlformats.org/officeDocument/2006/relationships/image" Target="../media/image11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281.png"/><Relationship Id="rId5" Type="http://schemas.openxmlformats.org/officeDocument/2006/relationships/image" Target="../media/image6.png"/><Relationship Id="rId6" Type="http://schemas.openxmlformats.org/officeDocument/2006/relationships/image" Target="../media/image282.png"/><Relationship Id="rId7" Type="http://schemas.openxmlformats.org/officeDocument/2006/relationships/image" Target="../media/image174.png"/><Relationship Id="rId8" Type="http://schemas.openxmlformats.org/officeDocument/2006/relationships/image" Target="../media/image283.png"/><Relationship Id="rId9" Type="http://schemas.openxmlformats.org/officeDocument/2006/relationships/image" Target="../media/image28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6.png"/><Relationship Id="rId4" Type="http://schemas.openxmlformats.org/officeDocument/2006/relationships/image" Target="../media/image285.png"/><Relationship Id="rId5" Type="http://schemas.openxmlformats.org/officeDocument/2006/relationships/image" Target="../media/image286.png"/><Relationship Id="rId6" Type="http://schemas.openxmlformats.org/officeDocument/2006/relationships/image" Target="../media/image287.png"/><Relationship Id="rId7" Type="http://schemas.openxmlformats.org/officeDocument/2006/relationships/image" Target="../media/image288.png"/><Relationship Id="rId8" Type="http://schemas.openxmlformats.org/officeDocument/2006/relationships/image" Target="../media/image289.png"/><Relationship Id="rId9" Type="http://schemas.openxmlformats.org/officeDocument/2006/relationships/image" Target="../media/image290.png"/><Relationship Id="rId10" Type="http://schemas.openxmlformats.org/officeDocument/2006/relationships/image" Target="../media/image291.png"/><Relationship Id="rId11" Type="http://schemas.openxmlformats.org/officeDocument/2006/relationships/image" Target="../media/image292.png"/><Relationship Id="rId12" Type="http://schemas.openxmlformats.org/officeDocument/2006/relationships/image" Target="../media/image6.png"/><Relationship Id="rId13" Type="http://schemas.openxmlformats.org/officeDocument/2006/relationships/image" Target="../media/image293.png"/><Relationship Id="rId14" Type="http://schemas.openxmlformats.org/officeDocument/2006/relationships/image" Target="../media/image29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295.png"/><Relationship Id="rId5" Type="http://schemas.openxmlformats.org/officeDocument/2006/relationships/image" Target="../media/image296.png"/><Relationship Id="rId6" Type="http://schemas.openxmlformats.org/officeDocument/2006/relationships/image" Target="../media/image297.png"/><Relationship Id="rId7" Type="http://schemas.openxmlformats.org/officeDocument/2006/relationships/image" Target="../media/image298.png"/><Relationship Id="rId8" Type="http://schemas.openxmlformats.org/officeDocument/2006/relationships/image" Target="../media/image200.png"/><Relationship Id="rId9" Type="http://schemas.openxmlformats.org/officeDocument/2006/relationships/image" Target="../media/image201.png"/><Relationship Id="rId10" Type="http://schemas.openxmlformats.org/officeDocument/2006/relationships/image" Target="../media/image202.png"/><Relationship Id="rId11" Type="http://schemas.openxmlformats.org/officeDocument/2006/relationships/image" Target="../media/image74.png"/><Relationship Id="rId12" Type="http://schemas.openxmlformats.org/officeDocument/2006/relationships/image" Target="../media/image75.png"/><Relationship Id="rId13" Type="http://schemas.openxmlformats.org/officeDocument/2006/relationships/image" Target="../media/image299.png"/><Relationship Id="rId14" Type="http://schemas.openxmlformats.org/officeDocument/2006/relationships/image" Target="../media/image6.png"/><Relationship Id="rId15" Type="http://schemas.openxmlformats.org/officeDocument/2006/relationships/image" Target="../media/image300.png"/><Relationship Id="rId16" Type="http://schemas.openxmlformats.org/officeDocument/2006/relationships/image" Target="../media/image301.png"/><Relationship Id="rId17" Type="http://schemas.openxmlformats.org/officeDocument/2006/relationships/image" Target="../media/image79.png"/><Relationship Id="rId18" Type="http://schemas.openxmlformats.org/officeDocument/2006/relationships/image" Target="../media/image30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6.png"/><Relationship Id="rId4" Type="http://schemas.openxmlformats.org/officeDocument/2006/relationships/image" Target="../media/image303.png"/><Relationship Id="rId5" Type="http://schemas.openxmlformats.org/officeDocument/2006/relationships/image" Target="../media/image304.png"/><Relationship Id="rId6" Type="http://schemas.openxmlformats.org/officeDocument/2006/relationships/image" Target="../media/image305.png"/><Relationship Id="rId7" Type="http://schemas.openxmlformats.org/officeDocument/2006/relationships/image" Target="../media/image306.png"/><Relationship Id="rId8" Type="http://schemas.openxmlformats.org/officeDocument/2006/relationships/image" Target="../media/image307.png"/><Relationship Id="rId9" Type="http://schemas.openxmlformats.org/officeDocument/2006/relationships/image" Target="../media/image308.png"/><Relationship Id="rId10" Type="http://schemas.openxmlformats.org/officeDocument/2006/relationships/image" Target="../media/image6.png"/><Relationship Id="rId11" Type="http://schemas.openxmlformats.org/officeDocument/2006/relationships/image" Target="../media/image309.png"/><Relationship Id="rId12" Type="http://schemas.openxmlformats.org/officeDocument/2006/relationships/image" Target="../media/image19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310.png"/><Relationship Id="rId5" Type="http://schemas.openxmlformats.org/officeDocument/2006/relationships/image" Target="../media/image311.png"/><Relationship Id="rId6" Type="http://schemas.openxmlformats.org/officeDocument/2006/relationships/image" Target="../media/image312.png"/><Relationship Id="rId7" Type="http://schemas.openxmlformats.org/officeDocument/2006/relationships/image" Target="../media/image313.png"/><Relationship Id="rId8" Type="http://schemas.openxmlformats.org/officeDocument/2006/relationships/image" Target="../media/image6.png"/><Relationship Id="rId9" Type="http://schemas.openxmlformats.org/officeDocument/2006/relationships/image" Target="../media/image314.png"/><Relationship Id="rId10" Type="http://schemas.openxmlformats.org/officeDocument/2006/relationships/image" Target="../media/image3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6122789"/>
            <a:ext cx="11106150" cy="3446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0" y="3504753"/>
            <a:ext cx="1333500" cy="28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9887" y="3800028"/>
            <a:ext cx="6372225" cy="8286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9631" y="1846510"/>
            <a:ext cx="2852737" cy="2190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6218932"/>
            <a:ext cx="114300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0725" y="6208514"/>
            <a:ext cx="9467850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Welcome MCA students to this 2-hour practical session. State clearly that today we demystify theory through code that matches their laboratory repository directly.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8161" y="2217985"/>
            <a:ext cx="5415676" cy="591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b="0" sz="4050" i="0" u="none">
                <a:solidFill>
                  <a:srgbClr val="FFFFFF"/>
                </a:solidFill>
                <a:latin typeface="Plus Jakarta Sans ExtraBold"/>
              </a:rPr>
              <a:t>MINING TECHNIQUES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8161" y="2904678"/>
            <a:ext cx="5415676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38BDF8"/>
                </a:solidFill>
                <a:latin typeface="Plus Jakarta Sans SemiBold"/>
              </a:rPr>
              <a:t>Classification &amp; Clustering in Practice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81812" y="4023866"/>
            <a:ext cx="9525" cy="38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4406" y="1903660"/>
            <a:ext cx="147637" cy="1047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19462" y="3990528"/>
            <a:ext cx="31051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94A3B8"/>
                </a:solidFill>
                <a:latin typeface="Plus Jakarta Sans"/>
              </a:rPr>
              <a:t>INSTITUTION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462" y="4114353"/>
            <a:ext cx="31051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8FAFC"/>
                </a:solidFill>
                <a:latin typeface="Plus Jakarta Sans"/>
              </a:rPr>
              <a:t>Moodalakatte Institute of Technology (MITK)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462" y="4295328"/>
            <a:ext cx="31051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Kandavara, Kundapura, Karnataka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8537" y="3981003"/>
            <a:ext cx="15240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94A3B8"/>
                </a:solidFill>
                <a:latin typeface="Plus Jakarta Sans"/>
              </a:rPr>
              <a:t>INSTRUCTOR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8537" y="4104828"/>
            <a:ext cx="1524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Abdul Muqeet Armar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8537" y="4304853"/>
            <a:ext cx="15240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Plus Jakarta Sans"/>
              </a:rPr>
              <a:t>M.Tech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6122789"/>
            <a:ext cx="11106150" cy="3446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315467"/>
            <a:ext cx="5400675" cy="2781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2315467"/>
            <a:ext cx="5400675" cy="2781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2944117"/>
            <a:ext cx="5000625" cy="561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3639442"/>
            <a:ext cx="5000625" cy="561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4334767"/>
            <a:ext cx="5000625" cy="561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8425" y="2944117"/>
            <a:ext cx="5000625" cy="561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8425" y="3639442"/>
            <a:ext cx="5000625" cy="561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8425" y="4391917"/>
            <a:ext cx="5000625" cy="4476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" y="6218932"/>
            <a:ext cx="114300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990725" y="6208514"/>
            <a:ext cx="9039225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Emphasize that we are strictly focusing on 5 core algorithms that match their lab folders: 3 for classification, 2 for clustering. No fluff, pure foundational clarity.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2925" y="466725"/>
            <a:ext cx="1681162" cy="2190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2925" y="723900"/>
            <a:ext cx="4065508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What Will We Learn Today?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523875"/>
            <a:ext cx="119062" cy="1047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2950" y="2558355"/>
            <a:ext cx="171450" cy="17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09650" y="2534542"/>
            <a:ext cx="25336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01. Classification (Supervised)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8425" y="2558355"/>
            <a:ext cx="19050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34175" y="2534542"/>
            <a:ext cx="25146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02. Clustering (Unsupervised)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875" y="3048892"/>
            <a:ext cx="10001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F8FAFC"/>
                </a:solidFill>
                <a:latin typeface="Plus Jakarta Sans"/>
              </a:rPr>
              <a:t>1. Decision Tree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875" y="3239392"/>
            <a:ext cx="47053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94A3B8"/>
                </a:solidFill>
                <a:latin typeface="Plus Jakarta Sans"/>
              </a:rPr>
              <a:t>Hierarchical questions and if-else logic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875" y="3744217"/>
            <a:ext cx="19526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F8FAFC"/>
                </a:solidFill>
                <a:latin typeface="Plus Jakarta Sans"/>
              </a:rPr>
              <a:t>2. k-Nearest Neighbors (k-NN)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875" y="3934717"/>
            <a:ext cx="47053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94A3B8"/>
                </a:solidFill>
                <a:latin typeface="Plus Jakarta Sans"/>
              </a:rPr>
              <a:t>Distance calculation and majority voting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875" y="4439542"/>
            <a:ext cx="9429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F8FAFC"/>
                </a:solidFill>
                <a:latin typeface="Plus Jakarta Sans"/>
              </a:rPr>
              <a:t>3. Naive Bayes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875" y="4630042"/>
            <a:ext cx="47053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94A3B8"/>
                </a:solidFill>
                <a:latin typeface="Plus Jakarta Sans"/>
              </a:rPr>
              <a:t>Probability and word independence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0350" y="3048892"/>
            <a:ext cx="14001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F8FAFC"/>
                </a:solidFill>
                <a:latin typeface="Plus Jakarta Sans"/>
              </a:rPr>
              <a:t>1. k-Means Clustering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0350" y="3239392"/>
            <a:ext cx="47053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94A3B8"/>
                </a:solidFill>
                <a:latin typeface="Plus Jakarta Sans"/>
              </a:rPr>
              <a:t>Centroid recomputation &amp; partitioning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0350" y="3744217"/>
            <a:ext cx="16287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F8FAFC"/>
                </a:solidFill>
                <a:latin typeface="Plus Jakarta Sans"/>
              </a:rPr>
              <a:t>2. Hierarchical Clustering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0350" y="3934717"/>
            <a:ext cx="47053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94A3B8"/>
                </a:solidFill>
                <a:latin typeface="Plus Jakarta Sans"/>
              </a:rPr>
              <a:t>Agglomerative merging &amp; dendrograms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67612" y="4525267"/>
            <a:ext cx="2762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1" sz="1050" i="0" u="none">
                <a:solidFill>
                  <a:srgbClr val="38BDF8"/>
                </a:solidFill>
                <a:latin typeface="Plus Jakarta Sans"/>
              </a:rPr>
              <a:t>From Concept → Algorithm → Python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6122789"/>
            <a:ext cx="11106150" cy="3446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630834"/>
            <a:ext cx="11106150" cy="76959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3629025"/>
            <a:ext cx="2476500" cy="1152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9475" y="3700462"/>
            <a:ext cx="2476500" cy="1009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3629025"/>
            <a:ext cx="2476500" cy="11525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2575" y="3700462"/>
            <a:ext cx="2476500" cy="1009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" y="6218932"/>
            <a:ext cx="114300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90725" y="6208514"/>
            <a:ext cx="9239250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Analogy: Just as gold miners sift tons of earth to find valuable gold nuggets, computer scientists sift through gigabytes of raw data to discover valuable insights.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925" y="466725"/>
            <a:ext cx="1800225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2925" y="723900"/>
            <a:ext cx="3140392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What is Data Mining?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50" y="2868959"/>
            <a:ext cx="10629900" cy="293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b="0" sz="1650" i="0" u="none">
                <a:solidFill>
                  <a:srgbClr val="F8FAFC"/>
                </a:solidFill>
                <a:latin typeface="Plus Jakarta Sans SemiBold"/>
              </a:rPr>
              <a:t>“Data Mining is the process of finding </a:t>
            </a:r>
            <a:r>
              <a:rPr b="0" sz="1650" i="0" u="none">
                <a:solidFill>
                  <a:srgbClr val="38BDF8"/>
                </a:solidFill>
                <a:latin typeface="Plus Jakarta Sans SemiBold"/>
              </a:rPr>
              <a:t>useful patterns</a:t>
            </a:r>
            <a:r>
              <a:rPr b="0" sz="1650" i="0" u="none">
                <a:solidFill>
                  <a:srgbClr val="F8FAFC"/>
                </a:solidFill>
                <a:latin typeface="Plus Jakarta Sans SemiBold"/>
              </a:rPr>
              <a:t> and </a:t>
            </a:r>
            <a:r>
              <a:rPr b="0" sz="1650" i="0" u="none">
                <a:solidFill>
                  <a:srgbClr val="34D399"/>
                </a:solidFill>
                <a:latin typeface="Plus Jakarta Sans SemiBold"/>
              </a:rPr>
              <a:t>actionable knowledge</a:t>
            </a:r>
            <a:r>
              <a:rPr b="0" sz="1650" i="0" u="none">
                <a:solidFill>
                  <a:srgbClr val="F8FAFC"/>
                </a:solidFill>
                <a:latin typeface="Plus Jakarta Sans SemiBold"/>
              </a:rPr>
              <a:t> from raw data.”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523875"/>
            <a:ext cx="109537" cy="1047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57350" y="3790950"/>
            <a:ext cx="247650" cy="2476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04850" y="4114800"/>
            <a:ext cx="21526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8FAFC"/>
                </a:solidFill>
                <a:latin typeface="Plus Jakarta Sans"/>
              </a:rPr>
              <a:t>10,000+ Student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850" y="4333875"/>
            <a:ext cx="2152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94A3B8"/>
                </a:solidFill>
                <a:latin typeface="Plus Jakarta Sans"/>
              </a:rPr>
              <a:t>Marks, attendance, study hours, lab performance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33725" y="4124325"/>
            <a:ext cx="171450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33900" y="3862387"/>
            <a:ext cx="247650" cy="2476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581400" y="4186237"/>
            <a:ext cx="21526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8FAFC"/>
                </a:solidFill>
                <a:latin typeface="Plus Jakarta Sans"/>
              </a:rPr>
              <a:t>Analyze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1400" y="4405312"/>
            <a:ext cx="21526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94A3B8"/>
                </a:solidFill>
                <a:latin typeface="Plus Jakarta Sans"/>
              </a:rPr>
              <a:t>Clean, filter, and run mining algorithms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0275" y="4124325"/>
            <a:ext cx="171450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10450" y="3790950"/>
            <a:ext cx="247650" cy="2476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57950" y="4114800"/>
            <a:ext cx="21526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8FAFC"/>
                </a:solidFill>
                <a:latin typeface="Plus Jakarta Sans"/>
              </a:rPr>
              <a:t>Discover Patterns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7950" y="4333875"/>
            <a:ext cx="2152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94A3B8"/>
                </a:solidFill>
                <a:latin typeface="Plus Jakarta Sans"/>
              </a:rPr>
              <a:t>“Attendance &lt; 75% often correlates with backlogs”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86825" y="4124325"/>
            <a:ext cx="171450" cy="1905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87000" y="3862387"/>
            <a:ext cx="247650" cy="2476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334500" y="4186237"/>
            <a:ext cx="21526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4D399"/>
                </a:solidFill>
                <a:latin typeface="Plus Jakarta Sans"/>
              </a:rPr>
              <a:t>Useful Knowledge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4500" y="4405312"/>
            <a:ext cx="21526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94A3B8"/>
                </a:solidFill>
                <a:latin typeface="Plus Jakarta Sans"/>
              </a:rPr>
              <a:t>Timely remedial tutoring intervention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09737" y="3857625"/>
            <a:ext cx="142875" cy="1143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00575" y="3929062"/>
            <a:ext cx="114300" cy="1143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77125" y="3857625"/>
            <a:ext cx="114300" cy="1143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367962" y="3929062"/>
            <a:ext cx="8572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5949553"/>
            <a:ext cx="11106150" cy="5179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876550"/>
            <a:ext cx="5438775" cy="2114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2876550"/>
            <a:ext cx="5438775" cy="2114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4371975"/>
            <a:ext cx="4886325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4371975"/>
            <a:ext cx="4886325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2925" y="2247900"/>
            <a:ext cx="111061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Plus Jakarta Sans"/>
              </a:rPr>
              <a:t>Mining techniques are algorithmic methods used to discover structures, predict outcomes, or partition observations automatically. Today we master the two most important pillars: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" y="6132314"/>
            <a:ext cx="114300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90725" y="6035278"/>
            <a:ext cx="9496425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Ask a student: "If I give you 100 emails and tell you which ones are spam, what technique is it?" (Classification). "If I give you 100 books without genre tags and ask you to group similar ones?" (Clustering).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925" y="466725"/>
            <a:ext cx="1171575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2925" y="723900"/>
            <a:ext cx="4395549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What are Mining Techniques?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523875"/>
            <a:ext cx="128587" cy="1047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9150" y="3571875"/>
            <a:ext cx="48863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8FAFC"/>
                </a:solidFill>
                <a:latin typeface="Plus Jakarta Sans SemiBold"/>
              </a:rPr>
              <a:t>Goal: Predict a known, predefined category or label.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50" y="3848100"/>
            <a:ext cx="48863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The model is trained with past historical data that already contains correct answers (labels). It learns the mapping rule to predict the label of fresh, unseen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3571875"/>
            <a:ext cx="48863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8FAFC"/>
                </a:solidFill>
                <a:latin typeface="Plus Jakarta Sans SemiBold"/>
              </a:rPr>
              <a:t>Goal: Discover natural, hidden groups in unlabeled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3848100"/>
            <a:ext cx="48863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No correct answers or class labels are given beforehand. The algorithm looks at similarities and distances between data points to group them automatically.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" y="3171825"/>
            <a:ext cx="159019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Plus Jakarta Sans"/>
              </a:rPr>
              <a:t>Classification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91025" y="3205162"/>
            <a:ext cx="1314450" cy="2190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2500" y="4486275"/>
            <a:ext cx="123825" cy="12382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86525" y="3171825"/>
            <a:ext cx="121015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4D399"/>
                </a:solidFill>
                <a:latin typeface="Plus Jakarta Sans"/>
              </a:rPr>
              <a:t>Clustering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25050" y="3205162"/>
            <a:ext cx="1447800" cy="2190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19875" y="4486275"/>
            <a:ext cx="123825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5949553"/>
            <a:ext cx="11106150" cy="5179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2925" y="2433637"/>
            <a:ext cx="11106150" cy="2371725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2925" y="2433637"/>
          <a:ext cx="11096624" cy="2371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441227"/>
                <a:gridCol w="4327624"/>
                <a:gridCol w="4327773"/>
              </a:tblGrid>
              <a:tr h="395287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Feature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 Classification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 Clustering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95287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Learning Paradigm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Supervised Learning (Teacher present)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Unsupervised Learning (Self-discovery)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287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Target Labels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Target labels are provided during training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No target labels exist in the dataset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287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Primary Objective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Assign a new sample into a predefined class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Discover organic subgroups based on similarity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287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Real-world Example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Medical diagnosis: Disease present (Yes / No)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Market segmentation: High, medium, low spenders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29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Our Lab Algorithms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Decision Tree, k-NN, Naive Bayes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k-Means, Hierarchical Clustering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6132314"/>
            <a:ext cx="114300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0725" y="6035278"/>
            <a:ext cx="9496425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Have students note this table down. In university exams and technical interviews, "Differentiate between Supervised Classification and Unsupervised Clustering" is a guaranteed question.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466725"/>
            <a:ext cx="1538287" cy="219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2925" y="723900"/>
            <a:ext cx="416552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Classification vs. Clustering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7687" y="2838450"/>
            <a:ext cx="244122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88915" y="2838450"/>
            <a:ext cx="432762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6539" y="2838450"/>
            <a:ext cx="432777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523875"/>
            <a:ext cx="119062" cy="10477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47687" y="3228975"/>
            <a:ext cx="244122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88915" y="3228975"/>
            <a:ext cx="432762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6539" y="3228975"/>
            <a:ext cx="432777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7687" y="3619500"/>
            <a:ext cx="244122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88915" y="3619500"/>
            <a:ext cx="432762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6539" y="3619500"/>
            <a:ext cx="432777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7687" y="4010025"/>
            <a:ext cx="244122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88915" y="4010025"/>
            <a:ext cx="432762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6539" y="4010025"/>
            <a:ext cx="432777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7687" y="4400550"/>
            <a:ext cx="244122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88915" y="4400550"/>
            <a:ext cx="432762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6539" y="4400550"/>
            <a:ext cx="432777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0365" y="2586037"/>
            <a:ext cx="119062" cy="1333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7989" y="2586037"/>
            <a:ext cx="138112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5949553"/>
            <a:ext cx="11106150" cy="5179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457450"/>
            <a:ext cx="11106150" cy="485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3171825"/>
            <a:ext cx="5438775" cy="16097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3171825"/>
            <a:ext cx="5438775" cy="16097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4248150"/>
            <a:ext cx="5038725" cy="3333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0325" y="4248150"/>
            <a:ext cx="5038725" cy="3333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" y="6132314"/>
            <a:ext cx="114300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90725" y="6035278"/>
            <a:ext cx="9496425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Emphasize the word "Discrete". In classification, outputs are finite categories (Yes/No, Red/Blue, Class A/B). If the output was a continuous number like predicting exact percentage (e.g. 78.4%), that is Regression, not Classification.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925" y="466725"/>
            <a:ext cx="2166937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2925" y="723900"/>
            <a:ext cx="3395424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What is Classification?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2590800"/>
            <a:ext cx="106870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8FAFC"/>
                </a:solidFill>
                <a:latin typeface="Plus Jakarta Sans SemiBold"/>
              </a:rPr>
              <a:t>Classification means mapping input data features to a </a:t>
            </a:r>
            <a:r>
              <a:rPr b="0" sz="1350" i="0" u="none">
                <a:solidFill>
                  <a:srgbClr val="38BDF8"/>
                </a:solidFill>
                <a:latin typeface="Plus Jakarta Sans SemiBold"/>
              </a:rPr>
              <a:t>predefined discrete class</a:t>
            </a:r>
            <a:r>
              <a:rPr b="0" sz="1350" i="0" u="none">
                <a:solidFill>
                  <a:srgbClr val="F8FAFC"/>
                </a:solidFill>
                <a:latin typeface="Plus Jakarta Sans SemiBold"/>
              </a:rPr>
              <a:t>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523875"/>
            <a:ext cx="119062" cy="1047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2950" y="3371850"/>
            <a:ext cx="5038725" cy="180975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Example 1: Student Academic Standing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0325" y="3371850"/>
            <a:ext cx="5038725" cy="180975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A855F7"/>
                </a:solidFill>
                <a:latin typeface="Plus Jakarta Sans"/>
              </a:rPr>
              <a:t>Example 2: Email Filtering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950" y="3400425"/>
            <a:ext cx="123825" cy="1428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2950" y="3667125"/>
            <a:ext cx="5038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Inputs (Features): </a:t>
            </a:r>
            <a:r>
              <a:rPr b="0" sz="975" i="0" u="none">
                <a:solidFill>
                  <a:srgbClr val="F8FAFC"/>
                </a:solidFill>
                <a:latin typeface="Plus Jakarta Sans"/>
              </a:rPr>
              <a:t>Study Hours + Class Attendance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" y="3895725"/>
            <a:ext cx="503872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Target Class: or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0325" y="3400425"/>
            <a:ext cx="142875" cy="1428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10325" y="3667125"/>
            <a:ext cx="5038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Inputs (Features): </a:t>
            </a:r>
            <a:r>
              <a:rPr b="0" sz="975" i="0" u="none">
                <a:solidFill>
                  <a:srgbClr val="F8FAFC"/>
                </a:solidFill>
                <a:latin typeface="Plus Jakarta Sans"/>
              </a:rPr>
              <a:t>Subject line, sender address, keywords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0325" y="3895725"/>
            <a:ext cx="503872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Target Class: or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14475" y="3895725"/>
            <a:ext cx="466725" cy="2190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43125" y="3895725"/>
            <a:ext cx="400050" cy="2190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81850" y="3895725"/>
            <a:ext cx="533400" cy="2190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77175" y="3895725"/>
            <a:ext cx="116205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6122789"/>
            <a:ext cx="11106150" cy="3446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501205"/>
            <a:ext cx="1901130" cy="1104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4105" y="2501205"/>
            <a:ext cx="1901130" cy="1104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5285" y="2501205"/>
            <a:ext cx="1901130" cy="1104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6466" y="2501205"/>
            <a:ext cx="1901130" cy="1104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7646" y="2572642"/>
            <a:ext cx="1901130" cy="962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925" y="3834705"/>
            <a:ext cx="5438775" cy="10763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3834705"/>
            <a:ext cx="5438775" cy="10763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9665" y="2663130"/>
            <a:ext cx="24765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70845" y="2663130"/>
            <a:ext cx="24765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72026" y="2663130"/>
            <a:ext cx="24765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73206" y="2663130"/>
            <a:ext cx="24765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74387" y="2734567"/>
            <a:ext cx="24765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3425" y="6218932"/>
            <a:ext cx="1143000" cy="15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990725" y="6208514"/>
            <a:ext cx="8810625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Draw attention to X (features) and y (target). In Scikit-Learn, we will always call model.fit(X_train, y_train) for training, and model.predict(X_new) for testing.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2925" y="466725"/>
            <a:ext cx="1209675" cy="2190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2925" y="723900"/>
            <a:ext cx="3830478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How Classification Works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" y="523875"/>
            <a:ext cx="147637" cy="1047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4850" y="2986980"/>
            <a:ext cx="157728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Plus Jakarta Sans"/>
              </a:rPr>
              <a:t>Training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850" y="3158430"/>
            <a:ext cx="157728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94A3B8"/>
                </a:solidFill>
                <a:latin typeface="Plus Jakarta Sans"/>
              </a:rPr>
              <a:t>Features (X) + Known Labels (y)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58355" y="2972692"/>
            <a:ext cx="171450" cy="190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006030" y="2986980"/>
            <a:ext cx="157728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A855F7"/>
                </a:solidFill>
                <a:latin typeface="Plus Jakarta Sans"/>
              </a:rPr>
              <a:t>Learn Patterns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06030" y="3158430"/>
            <a:ext cx="157728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94A3B8"/>
                </a:solidFill>
                <a:latin typeface="Plus Jakarta Sans"/>
              </a:rPr>
              <a:t>Model optimizes decision boundaries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59535" y="2972692"/>
            <a:ext cx="171450" cy="1905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307210" y="2986980"/>
            <a:ext cx="157728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59E0B"/>
                </a:solidFill>
                <a:latin typeface="Plus Jakarta Sans"/>
              </a:rPr>
              <a:t>Trained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7210" y="3158430"/>
            <a:ext cx="157728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94A3B8"/>
                </a:solidFill>
                <a:latin typeface="Plus Jakarta Sans"/>
              </a:rPr>
              <a:t>Mathematical rules locked in memory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60716" y="2972692"/>
            <a:ext cx="171450" cy="190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608391" y="2986980"/>
            <a:ext cx="157728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4D399"/>
                </a:solidFill>
                <a:latin typeface="Plus Jakarta Sans"/>
              </a:rPr>
              <a:t>New Unseen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8391" y="3158430"/>
            <a:ext cx="157728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94A3B8"/>
                </a:solidFill>
                <a:latin typeface="Plus Jakarta Sans"/>
              </a:rPr>
              <a:t>Features only (No label given)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61896" y="2972692"/>
            <a:ext cx="171450" cy="1905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909571" y="3058417"/>
            <a:ext cx="157728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4D399"/>
                </a:solidFill>
                <a:latin typeface="Plus Jakarta Sans"/>
              </a:rPr>
              <a:t>Predicted Class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9571" y="3229867"/>
            <a:ext cx="157728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F8FAFC"/>
                </a:solidFill>
                <a:latin typeface="Plus Jakarta Sans"/>
              </a:rPr>
              <a:t>Pass or Fail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175" y="4034730"/>
            <a:ext cx="476250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F8FAFC"/>
                </a:solidFill>
                <a:latin typeface="Plus Jakarta Sans"/>
              </a:rPr>
              <a:t>Training Phase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950" y="4310955"/>
            <a:ext cx="50387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We feed the model hundreds of past records with both inputs and true outcomes. The algorithm adjusts its internal parameters to minimize error.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48450" y="4034730"/>
            <a:ext cx="480060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F8FAFC"/>
                </a:solidFill>
                <a:latin typeface="Plus Jakarta Sans"/>
              </a:rPr>
              <a:t>Testing / Prediction Phase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0325" y="4310955"/>
            <a:ext cx="50387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A new student walks into college. We record their study hours and attendance. The model outputs a prediction immediately without human intervention.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2950" y="4053780"/>
            <a:ext cx="180975" cy="1428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10325" y="4053780"/>
            <a:ext cx="1428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6122789"/>
            <a:ext cx="11106150" cy="3446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872680"/>
            <a:ext cx="5438775" cy="2038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2225" y="3110805"/>
            <a:ext cx="1400175" cy="523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2820292"/>
            <a:ext cx="5438775" cy="6381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3572767"/>
            <a:ext cx="5438775" cy="6381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4325242"/>
            <a:ext cx="5438775" cy="6381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146" y="4082355"/>
            <a:ext cx="857250" cy="590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85951" y="4082355"/>
            <a:ext cx="1362075" cy="590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2925" y="2448817"/>
            <a:ext cx="111061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A </a:t>
            </a:r>
            <a:r>
              <a:rPr b="1" sz="1125" i="0" u="none">
                <a:solidFill>
                  <a:srgbClr val="CBD5E1"/>
                </a:solidFill>
                <a:latin typeface="Plus Jakarta Sans"/>
              </a:rPr>
              <a:t>Decision Tree</a:t>
            </a:r>
            <a:r>
              <a:rPr b="0" sz="1125" i="0" u="none">
                <a:solidFill>
                  <a:srgbClr val="CBD5E1"/>
                </a:solidFill>
                <a:latin typeface="Plus Jakarta Sans"/>
              </a:rPr>
              <a:t> breaks down complex decisions into a sequence of simple, transparent if-else questions based on feature values.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" y="6218932"/>
            <a:ext cx="114300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990725" y="6208514"/>
            <a:ext cx="8905875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Highlight interpretability: Decision Trees are popular because unlike black-box deep learning, humans can inspect and explain every single decision branch.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2925" y="466725"/>
            <a:ext cx="1247775" cy="2190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2925" y="723900"/>
            <a:ext cx="6510813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Decision Tree: Asking Sequential Questions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523875"/>
            <a:ext cx="128587" cy="1047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77242" y="3787080"/>
            <a:ext cx="396999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← NO</a:t>
            </a:r>
            <a:r>
              <a:rPr b="1" sz="900" i="0" u="none">
                <a:solidFill>
                  <a:srgbClr val="64748B"/>
                </a:solidFill>
                <a:latin typeface="Plus Jakarta Sans"/>
              </a:rPr>
              <a:t> </a:t>
            </a:r>
            <a:r>
              <a:rPr b="1" sz="900" i="0" u="none">
                <a:solidFill>
                  <a:srgbClr val="64748B"/>
                </a:solidFill>
                <a:latin typeface="Plus Jakarta Sans"/>
              </a:rPr>
              <a:t>YES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33675" y="3225105"/>
            <a:ext cx="10572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Plus Jakarta Sans SemiBold"/>
              </a:rPr>
              <a:t>ROOT NODE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3175" y="2963167"/>
            <a:ext cx="51530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1. Root Node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3175" y="3163192"/>
            <a:ext cx="51530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The very first question at the top of the tree, representing the most informative feature.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3175" y="3715642"/>
            <a:ext cx="51530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A855F7"/>
                </a:solidFill>
                <a:latin typeface="Plus Jakarta Sans"/>
              </a:rPr>
              <a:t>2. Decision Node / Branch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3175" y="3915667"/>
            <a:ext cx="51530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Splits into sub-branches based on the answer (Yes or No).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3175" y="4468117"/>
            <a:ext cx="51530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4D399"/>
                </a:solidFill>
                <a:latin typeface="Plus Jakarta Sans"/>
              </a:rPr>
              <a:t>3. Leaf Node (Terminal)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3175" y="4668142"/>
            <a:ext cx="51530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The final output label (Pass or Fail) where no further questions are asked.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1546" y="4177605"/>
            <a:ext cx="552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750" i="0" u="none">
                <a:solidFill>
                  <a:srgbClr val="F87171"/>
                </a:solidFill>
                <a:latin typeface="Plus Jakarta Sans"/>
              </a:rPr>
              <a:t>Leaf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19301" y="4358580"/>
            <a:ext cx="476250" cy="2381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38426" y="4358580"/>
            <a:ext cx="476250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5949553"/>
            <a:ext cx="11106150" cy="5179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288381"/>
            <a:ext cx="5400675" cy="26622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2288381"/>
            <a:ext cx="5400675" cy="26622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3450431"/>
            <a:ext cx="5000625" cy="1266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8425" y="3250406"/>
            <a:ext cx="5000625" cy="1181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" y="6132314"/>
            <a:ext cx="11430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90725" y="6035278"/>
            <a:ext cx="9496425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Connect this everyday Kundapura monsoon experience directly to data attributes. Tell students: "You are already using decision trees in your brain every single morning!"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925" y="466725"/>
            <a:ext cx="1047750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2925" y="723900"/>
            <a:ext cx="6230778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Real-Life Analogy: The Umbrella Decision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523875"/>
            <a:ext cx="128587" cy="1047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9650" y="2507456"/>
            <a:ext cx="4733925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Everyday Human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0" y="2507456"/>
            <a:ext cx="468630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Machine Learning Translation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950" y="2531268"/>
            <a:ext cx="171450" cy="171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2950" y="2917031"/>
            <a:ext cx="50006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Every morning in coastal Karnataka (Kundapura), you decide whether to carry an umbrella: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48425" y="2531268"/>
            <a:ext cx="219075" cy="17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48425" y="2917031"/>
            <a:ext cx="5000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A Machine Learning model follows the exact same structure: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8425" y="4564856"/>
            <a:ext cx="5000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The algorithm finds the best threshold split automatically from past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875" y="3583781"/>
            <a:ext cx="47053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• </a:t>
            </a:r>
            <a:r>
              <a:rPr b="1" sz="1050" i="0" u="none">
                <a:solidFill>
                  <a:srgbClr val="94A3B8"/>
                </a:solidFill>
                <a:latin typeface="Plus Jakarta Sans"/>
              </a:rPr>
              <a:t>Question 1: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 Is it currently raining outside?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7275" y="3783806"/>
            <a:ext cx="4552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4D399"/>
                </a:solidFill>
                <a:latin typeface="Plus Jakarta Sans"/>
              </a:rPr>
              <a:t>→ If </a:t>
            </a:r>
            <a:r>
              <a:rPr b="0" sz="1050" i="1" u="none">
                <a:solidFill>
                  <a:srgbClr val="34D399"/>
                </a:solidFill>
                <a:latin typeface="Plus Jakarta Sans"/>
              </a:rPr>
              <a:t>YES</a:t>
            </a:r>
            <a:r>
              <a:rPr b="0" sz="1050" i="0" u="none">
                <a:solidFill>
                  <a:srgbClr val="34D399"/>
                </a:solidFill>
                <a:latin typeface="Plus Jakarta Sans"/>
              </a:rPr>
              <a:t> → </a:t>
            </a:r>
            <a:r>
              <a:rPr b="1" sz="1050" i="0" u="none">
                <a:solidFill>
                  <a:srgbClr val="34D399"/>
                </a:solidFill>
                <a:latin typeface="Plus Jakarta Sans"/>
              </a:rPr>
              <a:t>Take Umbrella!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875" y="3983831"/>
            <a:ext cx="47053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• </a:t>
            </a:r>
            <a:r>
              <a:rPr b="1" sz="1050" i="0" u="none">
                <a:solidFill>
                  <a:srgbClr val="94A3B8"/>
                </a:solidFill>
                <a:latin typeface="Plus Jakarta Sans"/>
              </a:rPr>
              <a:t>Question 2: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 If </a:t>
            </a:r>
            <a:r>
              <a:rPr b="0" sz="1050" i="1" u="none">
                <a:solidFill>
                  <a:srgbClr val="94A3B8"/>
                </a:solidFill>
                <a:latin typeface="Plus Jakarta Sans"/>
              </a:rPr>
              <a:t>NO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, is the sky heavily overcast?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7275" y="4183856"/>
            <a:ext cx="4552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4D399"/>
                </a:solidFill>
                <a:latin typeface="Plus Jakarta Sans"/>
              </a:rPr>
              <a:t>→ If </a:t>
            </a:r>
            <a:r>
              <a:rPr b="0" sz="1050" i="1" u="none">
                <a:solidFill>
                  <a:srgbClr val="34D399"/>
                </a:solidFill>
                <a:latin typeface="Plus Jakarta Sans"/>
              </a:rPr>
              <a:t>YES</a:t>
            </a:r>
            <a:r>
              <a:rPr b="0" sz="1050" i="0" u="none">
                <a:solidFill>
                  <a:srgbClr val="34D399"/>
                </a:solidFill>
                <a:latin typeface="Plus Jakarta Sans"/>
              </a:rPr>
              <a:t> → </a:t>
            </a:r>
            <a:r>
              <a:rPr b="1" sz="1050" i="0" u="none">
                <a:solidFill>
                  <a:srgbClr val="34D399"/>
                </a:solidFill>
                <a:latin typeface="Plus Jakarta Sans"/>
              </a:rPr>
              <a:t>Take Umbrella!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7275" y="4383881"/>
            <a:ext cx="4552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87171"/>
                </a:solidFill>
                <a:latin typeface="Plus Jakarta Sans"/>
              </a:rPr>
              <a:t>→ If </a:t>
            </a:r>
            <a:r>
              <a:rPr b="0" sz="1050" i="1" u="none">
                <a:solidFill>
                  <a:srgbClr val="F87171"/>
                </a:solidFill>
                <a:latin typeface="Plus Jakarta Sans"/>
              </a:rPr>
              <a:t>NO</a:t>
            </a:r>
            <a:r>
              <a:rPr b="0" sz="1050" i="0" u="none">
                <a:solidFill>
                  <a:srgbClr val="F87171"/>
                </a:solidFill>
                <a:latin typeface="Plus Jakarta Sans"/>
              </a:rPr>
              <a:t> → </a:t>
            </a:r>
            <a:r>
              <a:rPr b="1" sz="1050" i="0" u="none">
                <a:solidFill>
                  <a:srgbClr val="F87171"/>
                </a:solidFill>
                <a:latin typeface="Plus Jakarta Sans"/>
              </a:rPr>
              <a:t>Leave Umbrella at home.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0350" y="3383756"/>
            <a:ext cx="47053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1. </a:t>
            </a:r>
            <a:r>
              <a:rPr b="1" sz="1050" i="0" u="none">
                <a:solidFill>
                  <a:srgbClr val="94A3B8"/>
                </a:solidFill>
                <a:latin typeface="Plus Jakarta Sans"/>
              </a:rPr>
              <a:t>Features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: Humidity, Wind Speed, Cloud Cover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0350" y="3621881"/>
            <a:ext cx="47053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2. </a:t>
            </a:r>
            <a:r>
              <a:rPr b="1" sz="1050" i="0" u="none">
                <a:solidFill>
                  <a:srgbClr val="94A3B8"/>
                </a:solidFill>
                <a:latin typeface="Plus Jakarta Sans"/>
              </a:rPr>
              <a:t>Threshold Test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: Is Humidity &gt; 80%?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0350" y="3860006"/>
            <a:ext cx="47053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3. </a:t>
            </a:r>
            <a:r>
              <a:rPr b="1" sz="1050" i="0" u="none">
                <a:solidFill>
                  <a:srgbClr val="94A3B8"/>
                </a:solidFill>
                <a:latin typeface="Plus Jakarta Sans"/>
              </a:rPr>
              <a:t>Branch Selection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: Traverse left or right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0350" y="4098131"/>
            <a:ext cx="47053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4. </a:t>
            </a:r>
            <a:r>
              <a:rPr b="1" sz="1050" i="0" u="none">
                <a:solidFill>
                  <a:srgbClr val="94A3B8"/>
                </a:solidFill>
                <a:latin typeface="Plus Jakarta Sans"/>
              </a:rPr>
              <a:t>Prediction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: 1 (Carry) or 0 (Don't Carry)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6122789"/>
            <a:ext cx="11106150" cy="3446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2453580"/>
            <a:ext cx="5419725" cy="2505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3301305"/>
            <a:ext cx="5019675" cy="971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6218932"/>
            <a:ext cx="114300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0725" y="6208514"/>
            <a:ext cx="9258300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Point out the split boundary at 3.5 or 4 hours. Explain that the algorithm searches through all possible split values to find the one that best separates Pass from Fail.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925" y="466725"/>
            <a:ext cx="1457325" cy="219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2925" y="723900"/>
            <a:ext cx="48056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Learning from Example Records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523875"/>
            <a:ext cx="119062" cy="1047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2925" y="2277367"/>
            <a:ext cx="54197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Plus Jakarta Sans SemiBold"/>
              </a:rPr>
              <a:t>Tiny Training Dataset (5 Students)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2925" y="2525017"/>
            <a:ext cx="5419725" cy="2609850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2925" y="2525017"/>
          <a:ext cx="5410199" cy="2609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123950"/>
                <a:gridCol w="1518642"/>
                <a:gridCol w="1723429"/>
                <a:gridCol w="1044178"/>
              </a:tblGrid>
              <a:tr h="4349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Student 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Study Hours (X1)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Attendance % (X2)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Result (y)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60%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Fail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65%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Fail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70%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Pass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75%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Pass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80%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Pass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696075" y="2672655"/>
            <a:ext cx="4752975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What Does the Tree Learn?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7687" y="2929830"/>
            <a:ext cx="11239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71637" y="2929830"/>
            <a:ext cx="151864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90279" y="2929830"/>
            <a:ext cx="172342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13709" y="2929830"/>
            <a:ext cx="104417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9375" y="2696467"/>
            <a:ext cx="17145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29375" y="2986980"/>
            <a:ext cx="5019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By observing these 5 rows, the Decision Tree algorithm detects a pure split point: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9375" y="4387155"/>
            <a:ext cx="50196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Notice how 100% of students studying 4+ hours passed. The algorithm creates a clean boundary with zero training error.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7687" y="3367980"/>
            <a:ext cx="11239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671637" y="3367980"/>
            <a:ext cx="151864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90279" y="3367980"/>
            <a:ext cx="172342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13709" y="3367980"/>
            <a:ext cx="104417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7687" y="3806130"/>
            <a:ext cx="11239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71637" y="3806130"/>
            <a:ext cx="151864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90279" y="3806130"/>
            <a:ext cx="172342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13709" y="3806130"/>
            <a:ext cx="104417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7687" y="4244280"/>
            <a:ext cx="11239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671637" y="4244280"/>
            <a:ext cx="151864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90279" y="4244280"/>
            <a:ext cx="172342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913709" y="4244280"/>
            <a:ext cx="104417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7687" y="4682430"/>
            <a:ext cx="11239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71637" y="4682430"/>
            <a:ext cx="151864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90279" y="4682430"/>
            <a:ext cx="172342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913709" y="4682430"/>
            <a:ext cx="104417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85159" y="3048892"/>
            <a:ext cx="400050" cy="2190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85159" y="3487042"/>
            <a:ext cx="400050" cy="2190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85159" y="3925192"/>
            <a:ext cx="466725" cy="2190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85159" y="4363342"/>
            <a:ext cx="466725" cy="21907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85159" y="4801492"/>
            <a:ext cx="466725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6122789"/>
            <a:ext cx="11106150" cy="3446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270224"/>
            <a:ext cx="5438775" cy="28717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2291655"/>
            <a:ext cx="5438775" cy="76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3187005"/>
            <a:ext cx="5438775" cy="76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4082355"/>
            <a:ext cx="5438775" cy="762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" y="6218932"/>
            <a:ext cx="11430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90725" y="6208514"/>
            <a:ext cx="8286750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Action: Switch screen to VS Code and open `01_decision_tree/decision_tree.py`. Run it in terminal so students see `['Pass']` printed in real time.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925" y="466725"/>
            <a:ext cx="1547812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2925" y="723900"/>
            <a:ext cx="5630703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Decision Tree in Python (Scikit-Learn)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523875"/>
            <a:ext cx="109537" cy="1047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2950" y="2432149"/>
            <a:ext cx="5038725" cy="166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b="0" sz="825" i="0" u="none">
                <a:solidFill>
                  <a:srgbClr val="64748B"/>
                </a:solidFill>
                <a:latin typeface="JetBrains Mono"/>
              </a:rPr>
              <a:t>01_CLASSIFICATION/01_DECISION_TREE/DECISION_TREE.PY</a:t>
            </a:r>
            <a:r>
              <a:rPr b="0" sz="825" i="0" u="none">
                <a:solidFill>
                  <a:srgbClr val="64748B"/>
                </a:solidFill>
                <a:latin typeface="JetBrains Mono"/>
              </a:rPr>
              <a:t> </a:t>
            </a:r>
            <a:r>
              <a:rPr b="0" sz="825" i="0" u="none">
                <a:solidFill>
                  <a:srgbClr val="64748B"/>
                </a:solidFill>
                <a:latin typeface="JetBrains Mono"/>
              </a:rPr>
              <a:t>PYTHON 3.10+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2950" y="2646461"/>
            <a:ext cx="50387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9375" y="2491680"/>
            <a:ext cx="5019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Step 1 &amp; 2: Import &amp; Initialize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2701230"/>
            <a:ext cx="50196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Scikit-learn gives us pre-built, highly optimized decision tree classes.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3387030"/>
            <a:ext cx="5019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Step 3: .fit(X, 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3596580"/>
            <a:ext cx="50196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This single line builds the tree branches and calculates information gains internally.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4282380"/>
            <a:ext cx="5019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Step 4: .predict()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4491930"/>
            <a:ext cx="50196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Pass new feature vector </a:t>
            </a:r>
            <a:r>
              <a:rPr b="0" sz="975" i="0" u="none">
                <a:solidFill>
                  <a:srgbClr val="38BDF8"/>
                </a:solidFill>
                <a:latin typeface="Plus Jakarta Sans"/>
              </a:rPr>
              <a:t>[[6, 80]]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to receive the predicted label instantly.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4996755"/>
            <a:ext cx="13335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6122789"/>
            <a:ext cx="11106150" cy="3446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258317"/>
            <a:ext cx="11106150" cy="447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2896492"/>
            <a:ext cx="5400675" cy="2257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3829942"/>
            <a:ext cx="5400675" cy="952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6218932"/>
            <a:ext cx="11430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90725" y="6208514"/>
            <a:ext cx="8943975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Draw a point on whiteboard between two distinct clusters. Ask students: "If you had to vote based on distance alone, what team does this point belong to?"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925" y="466725"/>
            <a:ext cx="1266825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2925" y="723900"/>
            <a:ext cx="432054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k-Nearest Neighbors (k-NN)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475" y="2372617"/>
            <a:ext cx="107251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8FAFC"/>
                </a:solidFill>
                <a:latin typeface="Plus Jakarta Sans SemiBold"/>
              </a:rPr>
              <a:t>“Tell me who your neighbors are, and I will tell you who you are.”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523875"/>
            <a:ext cx="119062" cy="1047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2925" y="3267967"/>
            <a:ext cx="54006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To classify a new unknown data point, k-NN calculates Euclidean distances to all known points in feature space and inspects the closest </a:t>
            </a:r>
            <a:r>
              <a:rPr b="1" sz="1125" i="0" u="none">
                <a:solidFill>
                  <a:srgbClr val="CBD5E1"/>
                </a:solidFill>
                <a:latin typeface="Plus Jakarta Sans"/>
              </a:rPr>
              <a:t>K</a:t>
            </a:r>
            <a:r>
              <a:rPr b="0" sz="1125" i="0" u="none">
                <a:solidFill>
                  <a:srgbClr val="CBD5E1"/>
                </a:solidFill>
                <a:latin typeface="Plus Jakarta Sans"/>
              </a:rPr>
              <a:t> neighbors.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0325" y="3058417"/>
            <a:ext cx="5076825" cy="1714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10325" y="4868167"/>
            <a:ext cx="50768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Plus Jakarta Sans"/>
              </a:rPr>
              <a:t>Yellow dashed circle represents nearest neighborhood radius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4049017"/>
            <a:ext cx="50006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Key Philosophy: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4277617"/>
            <a:ext cx="50006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Similar things exist in close proximity. If a new student's study hours and attendance resemble three students who passed, that student will most likely pass too.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6122789"/>
            <a:ext cx="11106150" cy="3446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3401317"/>
            <a:ext cx="11106150" cy="1762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2248792"/>
            <a:ext cx="1901130" cy="9239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4105" y="2248792"/>
            <a:ext cx="1901130" cy="9239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5285" y="2248792"/>
            <a:ext cx="1901130" cy="9239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6466" y="2248792"/>
            <a:ext cx="1901130" cy="9239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7646" y="2248792"/>
            <a:ext cx="1901130" cy="9239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9665" y="2410717"/>
            <a:ext cx="24765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70845" y="2410717"/>
            <a:ext cx="24765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72026" y="2410717"/>
            <a:ext cx="24765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3206" y="2410717"/>
            <a:ext cx="24765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74387" y="2410717"/>
            <a:ext cx="24765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3425" y="6218932"/>
            <a:ext cx="114300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990725" y="6208514"/>
            <a:ext cx="7305675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Emphasize why we usually pick odd numbers for K (like 3, 5, 7) for binary classification: it prevents 50-50 tie situations in voting.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2925" y="466725"/>
            <a:ext cx="1338262" cy="2190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2925" y="723900"/>
            <a:ext cx="5640705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How k-NN Works: The Voting 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" y="3620392"/>
            <a:ext cx="10439400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Concrete Voting Walkthrough (Setting K = 3):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" y="523875"/>
            <a:ext cx="109537" cy="1047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4850" y="2734567"/>
            <a:ext cx="15772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F8FAFC"/>
                </a:solidFill>
                <a:latin typeface="Plus Jakarta Sans"/>
              </a:rPr>
              <a:t>New Point Arrives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850" y="2886967"/>
            <a:ext cx="157728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Plus Jakarta Sans"/>
              </a:rPr>
              <a:t>Coordinates (x1, x2)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58355" y="2629792"/>
            <a:ext cx="171450" cy="190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006030" y="2734567"/>
            <a:ext cx="15772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F8FAFC"/>
                </a:solidFill>
                <a:latin typeface="Plus Jakarta Sans"/>
              </a:rPr>
              <a:t>Compute Distances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06030" y="2886967"/>
            <a:ext cx="157728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Plus Jakarta Sans"/>
              </a:rPr>
              <a:t>Euclidean metric to all points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59535" y="2629792"/>
            <a:ext cx="171450" cy="1905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307210" y="2734567"/>
            <a:ext cx="15772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F8FAFC"/>
                </a:solidFill>
                <a:latin typeface="Plus Jakarta Sans"/>
              </a:rPr>
              <a:t>Select K Closest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7210" y="2886967"/>
            <a:ext cx="157728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Plus Jakarta Sans"/>
              </a:rPr>
              <a:t>e.g., K = 3 nearest rows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60716" y="2629792"/>
            <a:ext cx="171450" cy="190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608391" y="2734567"/>
            <a:ext cx="15772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F8FAFC"/>
                </a:solidFill>
                <a:latin typeface="Plus Jakarta Sans"/>
              </a:rPr>
              <a:t>Majority Voting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8391" y="2886967"/>
            <a:ext cx="157728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Plus Jakarta Sans"/>
              </a:rPr>
              <a:t>Count label votes among K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61896" y="2629792"/>
            <a:ext cx="171450" cy="1905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909571" y="2734567"/>
            <a:ext cx="15772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38BDF8"/>
                </a:solidFill>
                <a:latin typeface="Plus Jakarta Sans"/>
              </a:rPr>
              <a:t>Assign Winner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9571" y="2886967"/>
            <a:ext cx="157728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F8FAFC"/>
                </a:solidFill>
                <a:latin typeface="Plus Jakarta Sans"/>
              </a:rPr>
              <a:t>Majority label assigned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2950" y="3644205"/>
            <a:ext cx="171450" cy="15240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6196012" y="4153792"/>
            <a:ext cx="9525" cy="57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757362" y="4010917"/>
            <a:ext cx="24098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CBD5E1"/>
                </a:solidFill>
                <a:latin typeface="Plus Jakarta Sans"/>
              </a:rPr>
              <a:t>Neighbor 1: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Distance = 1.2 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57362" y="4315717"/>
            <a:ext cx="24098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CBD5E1"/>
                </a:solidFill>
                <a:latin typeface="Plus Jakarta Sans"/>
              </a:rPr>
              <a:t>Neighbor 2: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Distance = 1.8 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57362" y="4620517"/>
            <a:ext cx="24098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CBD5E1"/>
                </a:solidFill>
                <a:latin typeface="Plus Jakarta Sans"/>
              </a:rPr>
              <a:t>Neighbor 3: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Distance = 2.4 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34362" y="4072830"/>
            <a:ext cx="22002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VOTE COUNT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34362" y="4296667"/>
            <a:ext cx="22002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38BDF8"/>
                </a:solidFill>
                <a:latin typeface="Plus Jakarta Sans ExtraBold"/>
              </a:rPr>
              <a:t>Class A (2) vs Class B (1)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34362" y="4620517"/>
            <a:ext cx="22002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1" sz="975" i="0" u="none">
                <a:solidFill>
                  <a:srgbClr val="34D399"/>
                </a:solidFill>
                <a:latin typeface="Plus Jakarta Sans"/>
              </a:rPr>
              <a:t>Prediction = Class A Wins!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500437" y="4010917"/>
            <a:ext cx="600075" cy="2476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529012" y="4315717"/>
            <a:ext cx="600075" cy="2476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567112" y="4620517"/>
            <a:ext cx="600075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5949553"/>
            <a:ext cx="11106150" cy="5179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4276725"/>
            <a:ext cx="11106150" cy="447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2514600"/>
            <a:ext cx="3575000" cy="15716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8425" y="2514600"/>
            <a:ext cx="3575000" cy="15716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3925" y="2514600"/>
            <a:ext cx="3575149" cy="15716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" y="6132314"/>
            <a:ext cx="11430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90725" y="6035278"/>
            <a:ext cx="9496425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Ask students: "If there are 100 students in the class, 90 boys and 10 girls, what happens if we set K = 99?" The boys will win every vote! That's why large K over-smoothes.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925" y="466725"/>
            <a:ext cx="1557337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2925" y="723900"/>
            <a:ext cx="4225528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What Does K Mean in k-NN?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5826" y="4400550"/>
            <a:ext cx="1714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Plus Jakarta Sans"/>
              </a:rPr>
              <a:t>General Rule of Thumb: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8901" y="4419600"/>
            <a:ext cx="627727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CBD5E1"/>
                </a:solidFill>
                <a:latin typeface="Plus Jakarta Sans"/>
              </a:rPr>
              <a:t>Choose an odd value like </a:t>
            </a:r>
            <a:r>
              <a:rPr b="0" sz="1050" i="0" u="none">
                <a:solidFill>
                  <a:srgbClr val="FBBF24"/>
                </a:solidFill>
                <a:latin typeface="Plus Jakarta Sans"/>
              </a:rPr>
              <a:t>K = 3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or </a:t>
            </a:r>
            <a:r>
              <a:rPr b="0" sz="1050" i="0" u="none">
                <a:solidFill>
                  <a:srgbClr val="FBBF24"/>
                </a:solidFill>
                <a:latin typeface="Plus Jakarta Sans"/>
              </a:rPr>
              <a:t>K = 5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to guarantee a clear majority decision in binary classification.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523875"/>
            <a:ext cx="119062" cy="1047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2950" y="2733675"/>
            <a:ext cx="317495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FBBF24"/>
                </a:solidFill>
                <a:latin typeface="Plus Jakarta Sans"/>
              </a:rPr>
              <a:t>K =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8450" y="2733675"/>
            <a:ext cx="317495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Plus Jakarta Sans"/>
              </a:rPr>
              <a:t>K = 3 or 5 (Balanced)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3950" y="2733675"/>
            <a:ext cx="3175099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C084FC"/>
                </a:solidFill>
                <a:latin typeface="Plus Jakarta Sans"/>
              </a:rPr>
              <a:t>K = Very Large (e.g. 50)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950" y="3048000"/>
            <a:ext cx="3174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Looks strictly at the single closest point.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8450" y="3048000"/>
            <a:ext cx="3174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Considers a small committee of closest samples.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3950" y="3048000"/>
            <a:ext cx="31750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Considers points far away across the entire dataset.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950" y="3371850"/>
            <a:ext cx="114300" cy="1143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08450" y="3371850"/>
            <a:ext cx="114300" cy="1143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73950" y="3571875"/>
            <a:ext cx="1143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6122789"/>
            <a:ext cx="11106150" cy="3446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244030"/>
            <a:ext cx="5419725" cy="2924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2244030"/>
            <a:ext cx="5419725" cy="29241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75" y="2739330"/>
            <a:ext cx="5019675" cy="3905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75" y="4063305"/>
            <a:ext cx="5019675" cy="4095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" y="6218932"/>
            <a:ext cx="11430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90725" y="6208514"/>
            <a:ext cx="7439025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Demonstrate how intuitive distance is. Point out that Person X is physically adjacent to Persons A, B, and D in height/weight space.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925" y="466725"/>
            <a:ext cx="1404937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2925" y="723900"/>
            <a:ext cx="6350793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k-NN Example: Body Health Classification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523875"/>
            <a:ext cx="80962" cy="1047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1075" y="2444055"/>
            <a:ext cx="478155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Known Patient Database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2950" y="2796480"/>
            <a:ext cx="5019675" cy="2171700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42950" y="2796480"/>
          <a:ext cx="5010148" cy="2171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037480"/>
                <a:gridCol w="1306264"/>
                <a:gridCol w="1295400"/>
                <a:gridCol w="1371004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Person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Height (cm)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Weight (kg)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Person 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170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65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Normal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Person 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172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68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Normal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Person 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160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85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Overweight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Person 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175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70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Normal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705600" y="2463105"/>
            <a:ext cx="474345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34D399"/>
                </a:solidFill>
                <a:latin typeface="Plus Jakarta Sans"/>
              </a:rPr>
              <a:t>Classifying New Patient X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950" y="2463105"/>
            <a:ext cx="142875" cy="14287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47712" y="3201292"/>
            <a:ext cx="10374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85193" y="3201292"/>
            <a:ext cx="130626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091457" y="3201292"/>
            <a:ext cx="12954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6857" y="3201292"/>
            <a:ext cx="137100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2482155"/>
            <a:ext cx="180975" cy="1428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29375" y="3225105"/>
            <a:ext cx="5019675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CBD5E1"/>
                </a:solidFill>
                <a:latin typeface="Plus Jakarta Sans"/>
              </a:rPr>
              <a:t>Step 1:</a:t>
            </a:r>
            <a:r>
              <a:rPr b="0" sz="975" i="0" u="none">
                <a:solidFill>
                  <a:srgbClr val="CBD5E1"/>
                </a:solidFill>
                <a:latin typeface="Plus Jakarta Sans"/>
              </a:rPr>
              <a:t> Distance to Person A → </a:t>
            </a:r>
            <a:r>
              <a:rPr b="0" sz="975" i="0" u="none">
                <a:solidFill>
                  <a:srgbClr val="38BDF8"/>
                </a:solidFill>
                <a:latin typeface="Plus Jakarta Sans"/>
              </a:rPr>
              <a:t>~1.41</a:t>
            </a:r>
            <a:r>
              <a:rPr b="0" sz="975" i="0" u="none">
                <a:solidFill>
                  <a:srgbClr val="CBD5E1"/>
                </a:solidFill>
                <a:latin typeface="Plus Jakarta Sans"/>
              </a:rPr>
              <a:t> (Very close)</a:t>
            </a:r>
            <a:r>
              <a:t>
</a:t>
            </a:r>
            <a:r>
              <a:rPr b="1" sz="975" i="0" u="none">
                <a:solidFill>
                  <a:srgbClr val="CBD5E1"/>
                </a:solidFill>
                <a:latin typeface="Plus Jakarta Sans"/>
              </a:rPr>
              <a:t>Step 2:</a:t>
            </a:r>
            <a:r>
              <a:rPr b="0" sz="975" i="0" u="none">
                <a:solidFill>
                  <a:srgbClr val="CBD5E1"/>
                </a:solidFill>
                <a:latin typeface="Plus Jakarta Sans"/>
              </a:rPr>
              <a:t> Distance to Person B → </a:t>
            </a:r>
            <a:r>
              <a:rPr b="0" sz="975" i="0" u="none">
                <a:solidFill>
                  <a:srgbClr val="38BDF8"/>
                </a:solidFill>
                <a:latin typeface="Plus Jakarta Sans"/>
              </a:rPr>
              <a:t>~2.23</a:t>
            </a:r>
            <a:r>
              <a:rPr b="0" sz="975" i="0" u="none">
                <a:solidFill>
                  <a:srgbClr val="CBD5E1"/>
                </a:solidFill>
                <a:latin typeface="Plus Jakarta Sans"/>
              </a:rPr>
              <a:t> (Close)</a:t>
            </a:r>
            <a:r>
              <a:t>
</a:t>
            </a:r>
            <a:r>
              <a:rPr b="1" sz="975" i="0" u="none">
                <a:solidFill>
                  <a:srgbClr val="CBD5E1"/>
                </a:solidFill>
                <a:latin typeface="Plus Jakarta Sans"/>
              </a:rPr>
              <a:t>Step 3:</a:t>
            </a:r>
            <a:r>
              <a:rPr b="0" sz="975" i="0" u="none">
                <a:solidFill>
                  <a:srgbClr val="CBD5E1"/>
                </a:solidFill>
                <a:latin typeface="Plus Jakarta Sans"/>
              </a:rPr>
              <a:t> Distance to Person D → </a:t>
            </a:r>
            <a:r>
              <a:rPr b="0" sz="975" i="0" u="none">
                <a:solidFill>
                  <a:srgbClr val="38BDF8"/>
                </a:solidFill>
                <a:latin typeface="Plus Jakarta Sans"/>
              </a:rPr>
              <a:t>~5.65</a:t>
            </a:r>
            <a:r>
              <a:rPr b="0" sz="975" i="0" u="none">
                <a:solidFill>
                  <a:srgbClr val="CBD5E1"/>
                </a:solidFill>
                <a:latin typeface="Plus Jakarta Sans"/>
              </a:rPr>
              <a:t> (Close)</a:t>
            </a:r>
            <a:r>
              <a:t>
</a:t>
            </a:r>
            <a:r>
              <a:rPr b="1" sz="975" i="0" u="none">
                <a:solidFill>
                  <a:srgbClr val="CBD5E1"/>
                </a:solidFill>
                <a:latin typeface="Plus Jakarta Sans"/>
              </a:rPr>
              <a:t>Step 4:</a:t>
            </a:r>
            <a:r>
              <a:rPr b="0" sz="975" i="0" u="none">
                <a:solidFill>
                  <a:srgbClr val="CBD5E1"/>
                </a:solidFill>
                <a:latin typeface="Plus Jakarta Sans"/>
              </a:rPr>
              <a:t> Distance to Person C → </a:t>
            </a:r>
            <a:r>
              <a:rPr b="0" sz="975" i="0" u="none">
                <a:solidFill>
                  <a:srgbClr val="F87171"/>
                </a:solidFill>
                <a:latin typeface="Plus Jakarta Sans"/>
              </a:rPr>
              <a:t>~21.9</a:t>
            </a:r>
            <a:r>
              <a:rPr b="0" sz="975" i="0" u="none">
                <a:solidFill>
                  <a:srgbClr val="CBD5E1"/>
                </a:solidFill>
                <a:latin typeface="Plus Jakarta Sans"/>
              </a:rPr>
              <a:t> (Far away)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7712" y="3639442"/>
            <a:ext cx="10374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85193" y="3639442"/>
            <a:ext cx="130626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091457" y="3639442"/>
            <a:ext cx="12954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6857" y="3639442"/>
            <a:ext cx="137100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7712" y="4077592"/>
            <a:ext cx="10374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785193" y="4077592"/>
            <a:ext cx="130626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91457" y="4077592"/>
            <a:ext cx="12954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6857" y="4077592"/>
            <a:ext cx="137100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7712" y="4515742"/>
            <a:ext cx="10374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785193" y="4515742"/>
            <a:ext cx="130626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91457" y="4515742"/>
            <a:ext cx="12954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86857" y="4515742"/>
            <a:ext cx="137100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58307" y="3320355"/>
            <a:ext cx="609600" cy="2190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58307" y="3758505"/>
            <a:ext cx="609600" cy="2190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58307" y="4196655"/>
            <a:ext cx="866775" cy="2190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58307" y="4634805"/>
            <a:ext cx="60960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5949553"/>
            <a:ext cx="11106150" cy="5179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183606"/>
            <a:ext cx="5438775" cy="28717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2576512"/>
            <a:ext cx="5438775" cy="76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3471862"/>
            <a:ext cx="5438775" cy="914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6132314"/>
            <a:ext cx="11430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90725" y="6035278"/>
            <a:ext cx="9496425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Introduce the term "Lazy Learner" in casual terms: k-NN is like a student who doesn't study before exam day, but memorizes the textbook and looks up the closest page when answering questions!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925" y="466725"/>
            <a:ext cx="1547812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2925" y="723900"/>
            <a:ext cx="4445555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k-NN in Python (Scikit-Learn)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523875"/>
            <a:ext cx="109537" cy="1047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2950" y="2345531"/>
            <a:ext cx="5038725" cy="166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b="0" sz="825" i="0" u="none">
                <a:solidFill>
                  <a:srgbClr val="64748B"/>
                </a:solidFill>
                <a:latin typeface="JetBrains Mono"/>
              </a:rPr>
              <a:t>01_CLASSIFICATION/02_KNN/KNN_CLASSIFIER.PY</a:t>
            </a:r>
            <a:r>
              <a:rPr b="0" sz="825" i="0" u="none">
                <a:solidFill>
                  <a:srgbClr val="64748B"/>
                </a:solidFill>
                <a:latin typeface="JetBrains Mono"/>
              </a:rPr>
              <a:t> </a:t>
            </a:r>
            <a:r>
              <a:rPr b="0" sz="825" i="0" u="none">
                <a:solidFill>
                  <a:srgbClr val="64748B"/>
                </a:solidFill>
                <a:latin typeface="JetBrains Mono"/>
              </a:rPr>
              <a:t>PYTHON 3.10+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2950" y="2559843"/>
            <a:ext cx="50387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9375" y="2776537"/>
            <a:ext cx="5019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n_neighbors=3</a:t>
            </a:r>
            <a:r>
              <a:rPr b="1" sz="1050" i="0" u="none">
                <a:solidFill>
                  <a:srgbClr val="F8FAFC"/>
                </a:solidFill>
                <a:latin typeface="Plus Jakarta Sans"/>
              </a:rPr>
              <a:t> Parameter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2986087"/>
            <a:ext cx="50196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This tells the algorithm to query exactly the 3 closest records when classifying.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671887"/>
            <a:ext cx="5019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Lazy Learning Characteristic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3881437"/>
            <a:ext cx="5019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k-NN does not build an explicit mathematical formula during </a:t>
            </a:r>
            <a:r>
              <a:rPr b="0" sz="975" i="0" u="none">
                <a:solidFill>
                  <a:srgbClr val="34D399"/>
                </a:solidFill>
                <a:latin typeface="Plus Jakarta Sans"/>
              </a:rPr>
              <a:t>.fit()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; it simply stores the data and does calculations on-the-fly during </a:t>
            </a:r>
            <a:r>
              <a:rPr b="0" sz="975" i="0" u="none">
                <a:solidFill>
                  <a:srgbClr val="34D399"/>
                </a:solidFill>
                <a:latin typeface="Plus Jakarta Sans"/>
              </a:rPr>
              <a:t>.predict()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!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0300" y="4538662"/>
            <a:ext cx="13335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5949553"/>
            <a:ext cx="11106150" cy="5179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464593"/>
            <a:ext cx="5438775" cy="23098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2464593"/>
            <a:ext cx="5438775" cy="23098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3312318"/>
            <a:ext cx="5038725" cy="590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0325" y="3312318"/>
            <a:ext cx="5038725" cy="723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" y="6132314"/>
            <a:ext cx="11430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90725" y="6035278"/>
            <a:ext cx="9496425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Emphasize: "Any algorithm relying on distance metrics (k-NN, k-Means) MUST have scaled features. Decision Trees do not care about scaling because they split one feature at a time."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925" y="466725"/>
            <a:ext cx="2052637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2925" y="723900"/>
            <a:ext cx="5545693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Why Feature Scaling Matters in k-NN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523875"/>
            <a:ext cx="147637" cy="1047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9650" y="2683668"/>
            <a:ext cx="4772025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The Problem: Scale Imbalance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7025" y="2683668"/>
            <a:ext cx="4772025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The Solution: StandardScaler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950" y="2707481"/>
            <a:ext cx="171450" cy="171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2950" y="2997993"/>
            <a:ext cx="50387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Imagine classifying loan applicants with two features: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4017168"/>
            <a:ext cx="5038725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87171"/>
                </a:solidFill>
                <a:latin typeface="Plus Jakarta Sans"/>
              </a:rPr>
              <a:t>Because Euclidean distance squares differences: </a:t>
            </a:r>
            <a:r>
              <a:t>
</a:t>
            </a:r>
            <a:r>
              <a:rPr b="0" sz="975" i="0" u="none">
                <a:solidFill>
                  <a:srgbClr val="F87171"/>
                </a:solidFill>
                <a:latin typeface="Plus Jakarta Sans"/>
              </a:rPr>
              <a:t>Distance = √((ΔAge)² + (ΔSalary)²)</a:t>
            </a:r>
            <a:r>
              <a:t>
</a:t>
            </a:r>
            <a:r>
              <a:rPr b="0" sz="975" i="0" u="none">
                <a:solidFill>
                  <a:srgbClr val="F87171"/>
                </a:solidFill>
                <a:latin typeface="Plus Jakarta Sans"/>
              </a:rPr>
              <a:t> Salary completely dwarfs Age! Age becomes invisible.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0325" y="2707481"/>
            <a:ext cx="17145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10325" y="2997993"/>
            <a:ext cx="50387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We normalize all features to the same numerical scale (e.g. 0 to 1 or zero mean):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0325" y="4150518"/>
            <a:ext cx="50387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4D399"/>
                </a:solidFill>
                <a:latin typeface="Plus Jakarta Sans"/>
              </a:rPr>
              <a:t>After scaling, both Age and Salary contribute equally to distance calculations.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100" y="3426618"/>
            <a:ext cx="266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F472B6"/>
                </a:solidFill>
                <a:latin typeface="JetBrains Mono"/>
              </a:rPr>
              <a:t>from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5325" y="3426618"/>
            <a:ext cx="400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F472B6"/>
                </a:solidFill>
                <a:latin typeface="JetBrains Mono"/>
              </a:rPr>
              <a:t>import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2050" y="3426618"/>
            <a:ext cx="9334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38BDF8"/>
                </a:solidFill>
                <a:latin typeface="JetBrains Mono"/>
              </a:rPr>
              <a:t>StandardScaler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5175" y="3598068"/>
            <a:ext cx="9334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38BDF8"/>
                </a:solidFill>
                <a:latin typeface="JetBrains Mono"/>
              </a:rPr>
              <a:t>StandardScaler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15250" y="3769518"/>
            <a:ext cx="8667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38BDF8"/>
                </a:solidFill>
                <a:latin typeface="JetBrains Mono"/>
              </a:rPr>
              <a:t>fit_transform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5949553"/>
            <a:ext cx="11106150" cy="5179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205037"/>
            <a:ext cx="11106150" cy="447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2843212"/>
            <a:ext cx="5419725" cy="2190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350" y="2843212"/>
            <a:ext cx="5419725" cy="2190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0" y="3376612"/>
            <a:ext cx="5019675" cy="4857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75" y="3657600"/>
            <a:ext cx="5019675" cy="70961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" y="6132314"/>
            <a:ext cx="114300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90725" y="6035278"/>
            <a:ext cx="9496425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Reassure students: Don't fear Bayes Theorem formula P(A|B) = P(B|A)P(A)/P(B). Focus on the core logic: "Count how often words appeared in spam previously, and multiply probabilities."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2925" y="466725"/>
            <a:ext cx="1295400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2925" y="723900"/>
            <a:ext cx="6955869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Naive Bayes: Probability-Based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75" y="2319337"/>
            <a:ext cx="107251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8FAFC"/>
                </a:solidFill>
                <a:latin typeface="Plus Jakarta Sans SemiBold"/>
              </a:rPr>
              <a:t>Naive Bayes uses </a:t>
            </a:r>
            <a:r>
              <a:rPr b="0" sz="1350" i="0" u="none">
                <a:solidFill>
                  <a:srgbClr val="38BDF8"/>
                </a:solidFill>
                <a:latin typeface="Plus Jakarta Sans SemiBold"/>
              </a:rPr>
              <a:t>Bayes' Theorem of Probability</a:t>
            </a:r>
            <a:r>
              <a:rPr b="0" sz="1350" i="0" u="none">
                <a:solidFill>
                  <a:srgbClr val="F8FAFC"/>
                </a:solidFill>
                <a:latin typeface="Plus Jakarta Sans SemiBold"/>
              </a:rPr>
              <a:t> to decide which class is most likely.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523875"/>
            <a:ext cx="147637" cy="1047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9650" y="3062287"/>
            <a:ext cx="4752975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Incoming Message Scenario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5125" y="3062287"/>
            <a:ext cx="4733925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How It Thinks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2950" y="3086100"/>
            <a:ext cx="171450" cy="17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2950" y="4014787"/>
            <a:ext cx="5019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CBD5E1"/>
                </a:solidFill>
                <a:latin typeface="Plus Jakarta Sans"/>
              </a:rPr>
              <a:t>Question for the Model: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What is the probability this is </a:t>
            </a:r>
            <a:r>
              <a:rPr b="1" sz="1050" i="0" u="none">
                <a:solidFill>
                  <a:srgbClr val="CBD5E1"/>
                </a:solidFill>
                <a:latin typeface="Plus Jakarta Sans"/>
              </a:rPr>
              <a:t>Spam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vs </a:t>
            </a:r>
            <a:r>
              <a:rPr b="1" sz="1050" i="0" u="none">
                <a:solidFill>
                  <a:srgbClr val="CBD5E1"/>
                </a:solidFill>
                <a:latin typeface="Plus Jakarta Sans"/>
              </a:rPr>
              <a:t>Not Spam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?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29375" y="3086100"/>
            <a:ext cx="19050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29375" y="3376612"/>
            <a:ext cx="50196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The model consults frequency counts from historical training emails: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9375" y="4462462"/>
            <a:ext cx="50196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4D399"/>
                </a:solidFill>
                <a:latin typeface="Plus Jakarta Sans SemiBold"/>
              </a:rPr>
              <a:t>By multiplying individual word probabilities together, Spam receives a vastly higher final score!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5949553"/>
            <a:ext cx="11106150" cy="5179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338387"/>
            <a:ext cx="5419725" cy="2562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2338387"/>
            <a:ext cx="5419725" cy="2562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3386137"/>
            <a:ext cx="5019675" cy="8286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6132314"/>
            <a:ext cx="11430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90725" y="6035278"/>
            <a:ext cx="9496425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Emphasize this definition! MCA examiners love asking: "Why is the Naive Bayes classifier called naive?" The single line answer is: "Because it assumes feature independence."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925" y="466725"/>
            <a:ext cx="1785937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2925" y="723900"/>
            <a:ext cx="3735466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Why is it Called “Naive”?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523875"/>
            <a:ext cx="119062" cy="1047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9650" y="2557462"/>
            <a:ext cx="4752975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The “Naive” Assumption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7025" y="2557462"/>
            <a:ext cx="4772025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Why It Still Works Miracles!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950" y="2581275"/>
            <a:ext cx="171450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2950" y="2871787"/>
            <a:ext cx="50196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It is called </a:t>
            </a:r>
            <a:r>
              <a:rPr b="1" sz="1050" i="0" u="none">
                <a:solidFill>
                  <a:srgbClr val="94A3B8"/>
                </a:solidFill>
                <a:latin typeface="Plus Jakarta Sans"/>
              </a:rPr>
              <a:t>naive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 (innocent / simplistic) because it assumes that </a:t>
            </a:r>
            <a:r>
              <a:rPr b="1" sz="1050" i="0" u="none">
                <a:solidFill>
                  <a:srgbClr val="FBBF24"/>
                </a:solidFill>
                <a:latin typeface="Plus Jakarta Sans"/>
              </a:rPr>
              <a:t>all features are completely independent of each other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4329112"/>
            <a:ext cx="50196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Naive Bayes pretends each word acts completely on its own, ignoring grammar and word order!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9375" y="2581275"/>
            <a:ext cx="152400" cy="17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29375" y="2871787"/>
            <a:ext cx="5019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Even though the independence assumption is mathematically untrue in real life: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4090987"/>
            <a:ext cx="50196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Plus Jakarta Sans"/>
              </a:rPr>
              <a:t>“All models are wrong, but some are useful.” — George 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9875" y="3186112"/>
            <a:ext cx="482917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Extremely fast training (just counting frequencies)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9875" y="3462337"/>
            <a:ext cx="482917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Requires very little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9875" y="3738562"/>
            <a:ext cx="482917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Unmatched baseline accuracy for text/spam detection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3219450"/>
            <a:ext cx="114300" cy="1333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3495675"/>
            <a:ext cx="114300" cy="1333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3771900"/>
            <a:ext cx="1143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6122789"/>
            <a:ext cx="11106150" cy="3446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3506092"/>
            <a:ext cx="11106150" cy="1552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2353567"/>
            <a:ext cx="1901130" cy="9239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4105" y="2353567"/>
            <a:ext cx="1901130" cy="9239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5285" y="2353567"/>
            <a:ext cx="1901130" cy="9239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6466" y="2353567"/>
            <a:ext cx="1901130" cy="9239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7646" y="2353567"/>
            <a:ext cx="1901130" cy="9239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9665" y="2515492"/>
            <a:ext cx="24765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70845" y="2515492"/>
            <a:ext cx="24765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72026" y="2515492"/>
            <a:ext cx="24765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3206" y="2515492"/>
            <a:ext cx="24765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74387" y="2515492"/>
            <a:ext cx="24765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3425" y="6218932"/>
            <a:ext cx="114300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990725" y="6208514"/>
            <a:ext cx="7381875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Highlight: We don't even need the denominator P(Data) because it is identical for both classes. We just compare the numerators!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2925" y="466725"/>
            <a:ext cx="966787" cy="2190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2925" y="723900"/>
            <a:ext cx="4595574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Naive Bayes Workflow for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975" y="3725167"/>
            <a:ext cx="105060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F8FAFC"/>
                </a:solidFill>
                <a:latin typeface="Plus Jakarta Sans"/>
              </a:rPr>
              <a:t>Simple Probability Comparison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" y="523875"/>
            <a:ext cx="128587" cy="1047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4850" y="2839342"/>
            <a:ext cx="15772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F8FAFC"/>
                </a:solidFill>
                <a:latin typeface="Plus Jakarta Sans"/>
              </a:rPr>
              <a:t>Training Emails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850" y="2991742"/>
            <a:ext cx="157728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Plus Jakarta Sans"/>
              </a:rPr>
              <a:t>Spam &amp; Ham datasets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58355" y="2734567"/>
            <a:ext cx="171450" cy="190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006030" y="2839342"/>
            <a:ext cx="15772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38BDF8"/>
                </a:solidFill>
                <a:latin typeface="Plus Jakarta Sans"/>
              </a:rPr>
              <a:t>Count Frequencies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06030" y="2991742"/>
            <a:ext cx="157728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Plus Jakarta Sans"/>
              </a:rPr>
              <a:t>How often each word occurs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59535" y="2734567"/>
            <a:ext cx="171450" cy="1905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307210" y="2839342"/>
            <a:ext cx="15772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A855F7"/>
                </a:solidFill>
                <a:latin typeface="Plus Jakarta Sans"/>
              </a:rPr>
              <a:t>Calculate P(Word|Class)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7210" y="2991742"/>
            <a:ext cx="157728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Plus Jakarta Sans"/>
              </a:rPr>
              <a:t>Build probability lookup table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60716" y="2734567"/>
            <a:ext cx="171450" cy="190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608391" y="2839342"/>
            <a:ext cx="15772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FBBF24"/>
                </a:solidFill>
                <a:latin typeface="Plus Jakarta Sans"/>
              </a:rPr>
              <a:t>Test Message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8391" y="2991742"/>
            <a:ext cx="157728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Plus Jakarta Sans"/>
              </a:rPr>
              <a:t>Multiply probabilities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61896" y="2734567"/>
            <a:ext cx="171450" cy="1905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909571" y="2839342"/>
            <a:ext cx="15772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34D399"/>
                </a:solidFill>
                <a:latin typeface="Plus Jakarta Sans"/>
              </a:rPr>
              <a:t>Highest Score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9571" y="2991742"/>
            <a:ext cx="157728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F8FAFC"/>
                </a:solidFill>
                <a:latin typeface="Plus Jakarta Sans"/>
              </a:rPr>
              <a:t>Output: SPAM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2950" y="3744217"/>
            <a:ext cx="104775" cy="142875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6100613" y="4001392"/>
            <a:ext cx="9525" cy="476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5538" y="4001392"/>
            <a:ext cx="1809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P(Spam | “win free cash”)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5538" y="4239517"/>
            <a:ext cx="18097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F87171"/>
                </a:solidFill>
                <a:latin typeface="Plus Jakarta Sans ExtraBold"/>
              </a:rPr>
              <a:t>0.00084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25538" y="4610992"/>
            <a:ext cx="1809750" cy="24765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475464" y="4001392"/>
            <a:ext cx="17907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P(Not Spam | “win free cash”)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75464" y="4239517"/>
            <a:ext cx="17907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38BDF8"/>
                </a:solidFill>
                <a:latin typeface="Plus Jakarta Sans ExtraBold"/>
              </a:rPr>
              <a:t>0.00002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75464" y="4610992"/>
            <a:ext cx="17907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b="0" sz="900" i="0" u="none">
                <a:solidFill>
                  <a:srgbClr val="64748B"/>
                </a:solidFill>
                <a:latin typeface="Plus Jakarta Sans"/>
              </a:rPr>
              <a:t>Lower probability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5949553"/>
            <a:ext cx="11106150" cy="5179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1997868"/>
            <a:ext cx="5438775" cy="32432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2500312"/>
            <a:ext cx="5438775" cy="914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3548062"/>
            <a:ext cx="5438775" cy="914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6132314"/>
            <a:ext cx="11430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90725" y="6035278"/>
            <a:ext cx="9496425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Demonstrate the Python script `03_naive_bayes/spam_classifier.py`. Show students how typing "Meeting tomorrow at 10 AM" outputs "Ham", but "Win free cash now" immediately outputs "Spam".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925" y="466725"/>
            <a:ext cx="1547812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2925" y="723900"/>
            <a:ext cx="5815726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Naive Bayes in Python (MultinomialNB)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523875"/>
            <a:ext cx="109537" cy="1047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2950" y="2159793"/>
            <a:ext cx="5038725" cy="166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b="0" sz="825" i="0" u="none">
                <a:solidFill>
                  <a:srgbClr val="64748B"/>
                </a:solidFill>
                <a:latin typeface="JetBrains Mono"/>
              </a:rPr>
              <a:t>01_CLASSIFICATION/03_NAIVE_BAYES/SPAM_CLASSIFIER.PY</a:t>
            </a:r>
            <a:r>
              <a:rPr b="0" sz="825" i="0" u="none">
                <a:solidFill>
                  <a:srgbClr val="64748B"/>
                </a:solidFill>
                <a:latin typeface="JetBrains Mono"/>
              </a:rPr>
              <a:t> </a:t>
            </a:r>
            <a:r>
              <a:rPr b="0" sz="825" i="0" u="none">
                <a:solidFill>
                  <a:srgbClr val="64748B"/>
                </a:solidFill>
                <a:latin typeface="JetBrains Mono"/>
              </a:rPr>
              <a:t>PYTHON 3.10+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2950" y="2374106"/>
            <a:ext cx="50387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9375" y="2700337"/>
            <a:ext cx="5019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Why CountVectorizer?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2909887"/>
            <a:ext cx="5019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Computers don't understand words; they understand numbers. CountVectorizer turns sentences into word frequency matrix columns.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748087"/>
            <a:ext cx="5019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Why MultinomialNB?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3957637"/>
            <a:ext cx="5019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Multinomial Naive Bayes is designed specifically for discrete count data like word frequencies in text mining.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0300" y="4614862"/>
            <a:ext cx="13335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6122789"/>
            <a:ext cx="11106150" cy="3446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4430017"/>
            <a:ext cx="11106150" cy="504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2925" y="2477392"/>
            <a:ext cx="11106150" cy="1762125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2925" y="2477392"/>
          <a:ext cx="11096624" cy="1762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74156"/>
                <a:gridCol w="3883818"/>
                <a:gridCol w="4438650"/>
              </a:tblGrid>
              <a:tr h="440531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Algorithm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Core Mechanism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Ideal Real-World Use Case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40531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Decision Tree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Sequential If-Else Question Branches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Loan approvals, medical triage where rules must be explainable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0531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k-NN (Nearest Neighbors)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Distance Calculation + Majority Vote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Recommendation systems, biometric matching with continuous metrics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053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084FC"/>
                          </a:solidFill>
                          <a:latin typeface="Plus Jakarta Sans"/>
                        </a:rPr>
                        <a:t>Naive Bayes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Probability Multiplication (Independence)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Spam filtering, sentiment analysis, document classification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6218932"/>
            <a:ext cx="11430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90725" y="6208514"/>
            <a:ext cx="9144000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Pause here for 2 minutes. Ask 2 students to summarize in their own words what makes Decision Tree different from k-NN. Then transition to Section 2: Clustering.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466725"/>
            <a:ext cx="1938337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2925" y="723900"/>
            <a:ext cx="608076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Classification Recap: Quick Comparison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7687" y="2882205"/>
            <a:ext cx="27741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21843" y="2882205"/>
            <a:ext cx="388381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05662" y="2882205"/>
            <a:ext cx="44386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950" y="4582417"/>
            <a:ext cx="6677025" cy="200025"/>
          </a:xfrm>
          <a:prstGeom prst="rect">
            <a:avLst/>
          </a:prstGeom>
          <a:noFill/>
        </p:spPr>
        <p:txBody>
          <a:bodyPr wrap="square" lIns="17145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 Classroom Question: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 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If you have a dataset with 50,000 text reviews, which algorithm will train faster?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34650" y="4572892"/>
            <a:ext cx="914400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523875"/>
            <a:ext cx="109537" cy="10477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47687" y="3272730"/>
            <a:ext cx="27741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21843" y="3272730"/>
            <a:ext cx="388381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05662" y="3272730"/>
            <a:ext cx="44386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7687" y="3834705"/>
            <a:ext cx="27741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21843" y="3834705"/>
            <a:ext cx="388381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05662" y="3834705"/>
            <a:ext cx="44386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950" y="4620517"/>
            <a:ext cx="1809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6122789"/>
            <a:ext cx="11106150" cy="3446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296417"/>
            <a:ext cx="11106150" cy="485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3010792"/>
            <a:ext cx="5400675" cy="2105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3777555"/>
            <a:ext cx="5400675" cy="11334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6218932"/>
            <a:ext cx="11430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90725" y="6208514"/>
            <a:ext cx="9258300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Key phrase to teach: "High intra-cluster similarity, low inter-cluster similarity." Points inside a cluster should be tight friends; different clusters should stay far apart.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925" y="466725"/>
            <a:ext cx="1709737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2925" y="723900"/>
            <a:ext cx="2905363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What is Clustering?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2429767"/>
            <a:ext cx="106870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8FAFC"/>
                </a:solidFill>
                <a:latin typeface="Plus Jakarta Sans SemiBold"/>
              </a:rPr>
              <a:t>Clustering groups similar data points together </a:t>
            </a:r>
            <a:r>
              <a:rPr b="0" sz="1350" i="0" u="none">
                <a:solidFill>
                  <a:srgbClr val="34D399"/>
                </a:solidFill>
                <a:latin typeface="Plus Jakarta Sans SemiBold"/>
              </a:rPr>
              <a:t>without any prior labels</a:t>
            </a:r>
            <a:r>
              <a:rPr b="0" sz="1350" i="0" u="none">
                <a:solidFill>
                  <a:srgbClr val="F8FAFC"/>
                </a:solidFill>
                <a:latin typeface="Plus Jakarta Sans SemiBold"/>
              </a:rPr>
              <a:t>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523875"/>
            <a:ext cx="119062" cy="1047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2925" y="3215580"/>
            <a:ext cx="54006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In clustering, we are given raw data with </a:t>
            </a:r>
            <a:r>
              <a:rPr b="1" sz="1125" i="0" u="none">
                <a:solidFill>
                  <a:srgbClr val="CBD5E1"/>
                </a:solidFill>
                <a:latin typeface="Plus Jakarta Sans"/>
              </a:rPr>
              <a:t>no predefined target answers</a:t>
            </a:r>
            <a:r>
              <a:rPr b="0" sz="1125" i="0" u="none">
                <a:solidFill>
                  <a:srgbClr val="CBD5E1"/>
                </a:solidFill>
                <a:latin typeface="Plus Jakarta Sans"/>
              </a:rPr>
              <a:t>. We ask the machine: </a:t>
            </a:r>
            <a:r>
              <a:rPr b="0" sz="1125" i="1" u="none">
                <a:solidFill>
                  <a:srgbClr val="CBD5E1"/>
                </a:solidFill>
                <a:latin typeface="Plus Jakarta Sans"/>
              </a:rPr>
              <a:t>“Find the natural families or clusters that exist within this crowd.”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0325" y="3172717"/>
            <a:ext cx="5076825" cy="1619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10325" y="4830067"/>
            <a:ext cx="50768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Plus Jakarta Sans"/>
              </a:rPr>
              <a:t>High intra-cluster similarity; high inter-cluster separation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3996630"/>
            <a:ext cx="5000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4D399"/>
                </a:solidFill>
                <a:latin typeface="Plus Jakarta Sans"/>
              </a:rPr>
              <a:t>E-Commerce Customer Example: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4253805"/>
            <a:ext cx="50006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Input: 50,000 customers with spending &amp; visit frequency.</a:t>
            </a:r>
            <a:r>
              <a:t>
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Output: Group 1 (Bargain hunters), Group 2 (Occasional luxury buyers), Group 3 (Daily commuters).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5949553"/>
            <a:ext cx="11106150" cy="5179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707481"/>
            <a:ext cx="5400675" cy="18240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2707481"/>
            <a:ext cx="5400675" cy="18240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3240881"/>
            <a:ext cx="5000625" cy="8096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3240881"/>
            <a:ext cx="5000625" cy="8096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6132314"/>
            <a:ext cx="11430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90725" y="6035278"/>
            <a:ext cx="9496425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Use colors as an analogy: In classification, the dots arrive painted blue and red. In clustering, all dots are plain gray; the algorithm paints them based on who sits near whom.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925" y="466725"/>
            <a:ext cx="1081087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2925" y="723900"/>
            <a:ext cx="5910738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Visualizing: Classification vs. Clustering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523875"/>
            <a:ext cx="119062" cy="1047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9650" y="2926556"/>
            <a:ext cx="4733925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Plus Jakarta Sans"/>
              </a:rPr>
              <a:t>Classification (Labels Given)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5125" y="2926556"/>
            <a:ext cx="4733925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34D399"/>
                </a:solidFill>
                <a:latin typeface="Plus Jakarta Sans"/>
              </a:rPr>
              <a:t>Clustering (No Labels Given)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950" y="2950368"/>
            <a:ext cx="171450" cy="171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8200" y="4145756"/>
            <a:ext cx="49053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CBD5E1"/>
                </a:solidFill>
                <a:latin typeface="Plus Jakarta Sans"/>
              </a:rPr>
              <a:t>Question:</a:t>
            </a:r>
            <a:r>
              <a:rPr b="0" sz="975" i="0" u="none">
                <a:solidFill>
                  <a:srgbClr val="CBD5E1"/>
                </a:solidFill>
                <a:latin typeface="Plus Jakarta Sans"/>
              </a:rPr>
              <a:t> “Is this newly received email Spam or Not Spam?”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2950" y="4145756"/>
            <a:ext cx="19050" cy="185737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8425" y="2950368"/>
            <a:ext cx="17145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43675" y="4145756"/>
            <a:ext cx="49053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CBD5E1"/>
                </a:solidFill>
                <a:latin typeface="Plus Jakarta Sans"/>
              </a:rPr>
              <a:t>Question:</a:t>
            </a:r>
            <a:r>
              <a:rPr b="0" sz="975" i="0" u="none">
                <a:solidFill>
                  <a:srgbClr val="CBD5E1"/>
                </a:solidFill>
                <a:latin typeface="Plus Jakarta Sans"/>
              </a:rPr>
              <a:t> “Can we discover 3 natural customer groups in our mall data?”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8425" y="4145756"/>
            <a:ext cx="19050" cy="185737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250" y="3364706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8FAFC"/>
                </a:solidFill>
                <a:latin typeface="Plus Jakarta Sans SemiBold"/>
              </a:rPr>
              <a:t>Data + Known Labels Provided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250" y="3593306"/>
            <a:ext cx="47720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94A3B8"/>
                </a:solidFill>
                <a:latin typeface="Plus Jakarta Sans"/>
              </a:rPr>
              <a:t>• Every row already marked Red or Blue.</a:t>
            </a:r>
            <a:r>
              <a:t>
</a:t>
            </a:r>
            <a:r>
              <a:rPr b="0" sz="900" i="0" u="none">
                <a:solidFill>
                  <a:srgbClr val="94A3B8"/>
                </a:solidFill>
                <a:latin typeface="Plus Jakarta Sans"/>
              </a:rPr>
              <a:t> • Goal: Draw a boundary line to separate them.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2725" y="3364706"/>
            <a:ext cx="1809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8FAFC"/>
                </a:solidFill>
                <a:latin typeface="Plus Jakarta Sans SemiBold"/>
              </a:rPr>
              <a:t>Raw Data Only (All grey dots)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2725" y="3593306"/>
            <a:ext cx="47720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94A3B8"/>
                </a:solidFill>
                <a:latin typeface="Plus Jakarta Sans"/>
              </a:rPr>
              <a:t>• No pre-existing classes or color tags.</a:t>
            </a:r>
            <a:r>
              <a:t>
</a:t>
            </a:r>
            <a:r>
              <a:rPr b="0" sz="900" i="0" u="none">
                <a:solidFill>
                  <a:srgbClr val="94A3B8"/>
                </a:solidFill>
                <a:latin typeface="Plus Jakarta Sans"/>
              </a:rPr>
              <a:t> • Goal: Discover if grey dots naturally form islands.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6122789"/>
            <a:ext cx="11106150" cy="3446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332136"/>
            <a:ext cx="11106150" cy="447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2970311"/>
            <a:ext cx="5419725" cy="21097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350" y="2970311"/>
            <a:ext cx="5419725" cy="210978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0" y="3798986"/>
            <a:ext cx="5019675" cy="600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75" y="3999011"/>
            <a:ext cx="5019675" cy="600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" y="6218932"/>
            <a:ext cx="114300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90725" y="6208514"/>
            <a:ext cx="8696325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Warn students not to confuse "K" in k-NN with "K" in k-Means! In k-NN, K = number of neighbors voting. In k-Means, K = number of clusters being formed.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2925" y="466725"/>
            <a:ext cx="1295400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2925" y="723900"/>
            <a:ext cx="6925865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k-Means Clustering: Partitioning by Centroids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75" y="2446436"/>
            <a:ext cx="107251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8FAFC"/>
                </a:solidFill>
                <a:latin typeface="Plus Jakarta Sans SemiBold"/>
              </a:rPr>
              <a:t>k-Means partitions </a:t>
            </a:r>
            <a:r>
              <a:rPr b="0" sz="1350" i="0" u="none">
                <a:solidFill>
                  <a:srgbClr val="38BDF8"/>
                </a:solidFill>
                <a:latin typeface="Plus Jakarta Sans SemiBold"/>
              </a:rPr>
              <a:t>N</a:t>
            </a:r>
            <a:r>
              <a:rPr b="0" sz="1350" i="0" u="none">
                <a:solidFill>
                  <a:srgbClr val="F8FAFC"/>
                </a:solidFill>
                <a:latin typeface="Plus Jakarta Sans SemiBold"/>
              </a:rPr>
              <a:t> data points into </a:t>
            </a:r>
            <a:r>
              <a:rPr b="0" sz="1350" i="0" u="none">
                <a:solidFill>
                  <a:srgbClr val="38BDF8"/>
                </a:solidFill>
                <a:latin typeface="Plus Jakarta Sans SemiBold"/>
              </a:rPr>
              <a:t>K</a:t>
            </a:r>
            <a:r>
              <a:rPr b="0" sz="1350" i="0" u="none">
                <a:solidFill>
                  <a:srgbClr val="F8FAFC"/>
                </a:solidFill>
                <a:latin typeface="Plus Jakarta Sans SemiBold"/>
              </a:rPr>
              <a:t> distinct non-overlapping clusters.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523875"/>
            <a:ext cx="147637" cy="1047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9650" y="3189386"/>
            <a:ext cx="4752975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What is K in k-Means?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6075" y="3189386"/>
            <a:ext cx="4752975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What is a Centroid?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2950" y="3213199"/>
            <a:ext cx="171450" cy="17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2950" y="3503711"/>
            <a:ext cx="5019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94A3B8"/>
                </a:solidFill>
                <a:latin typeface="Plus Jakarta Sans"/>
              </a:rPr>
              <a:t>K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 is the exact number of clusters you want the algorithm to create.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" y="4494311"/>
            <a:ext cx="50196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You must specify K before the algorithm begins running.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29375" y="3213199"/>
            <a:ext cx="171450" cy="1714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29375" y="3503711"/>
            <a:ext cx="50196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A </a:t>
            </a:r>
            <a:r>
              <a:rPr b="1" sz="1050" i="0" u="none">
                <a:solidFill>
                  <a:srgbClr val="94A3B8"/>
                </a:solidFill>
                <a:latin typeface="Plus Jakarta Sans"/>
              </a:rPr>
              <a:t>centroid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 is the imaginary center point (the average/mean position) of all points inside that cluster.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9375" y="4694336"/>
            <a:ext cx="50196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4D399"/>
                </a:solidFill>
                <a:latin typeface="Plus Jakarta Sans SemiBold"/>
              </a:rPr>
              <a:t>Every cluster has exactly one centroid.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5949553"/>
            <a:ext cx="11106150" cy="5179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3929062"/>
            <a:ext cx="11106150" cy="676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2633662"/>
            <a:ext cx="2662237" cy="1104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7562" y="2633662"/>
            <a:ext cx="2662237" cy="1104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2633662"/>
            <a:ext cx="2662237" cy="1104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86837" y="2633662"/>
            <a:ext cx="2662237" cy="1104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" y="6132314"/>
            <a:ext cx="114300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90725" y="6035278"/>
            <a:ext cx="9496425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Analogy: Think of political leaders (centroids). At first, leaders stand anywhere. Voters gather around the closest leader. Then leaders shift their position to the exact center of their supporters!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2925" y="466725"/>
            <a:ext cx="1700212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2925" y="723900"/>
            <a:ext cx="5985748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How k-Means Works: The 4-Step 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071937"/>
            <a:ext cx="3048000" cy="200025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4D399"/>
                </a:solidFill>
                <a:latin typeface="Plus Jakarta Sans"/>
              </a:rPr>
              <a:t>REPEAT Steps 3 &amp; 4 until Convergence!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4310062"/>
            <a:ext cx="10706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CBD5E1"/>
                </a:solidFill>
                <a:latin typeface="Plus Jakarta Sans"/>
              </a:rPr>
              <a:t>When centroids stop moving and no points change clusters, the algorithm has finished.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523875"/>
            <a:ext cx="119062" cy="1047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2950" y="2852737"/>
            <a:ext cx="2262187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Choose 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3167062"/>
            <a:ext cx="2262187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Specify desired number of clusters (e.g., K = 2).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7587" y="2852737"/>
            <a:ext cx="2262187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Random Centroids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7587" y="3167062"/>
            <a:ext cx="2262187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Pick K initial centroid points randomly on the plot.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2225" y="2852737"/>
            <a:ext cx="2262187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F8FAFC"/>
                </a:solidFill>
                <a:latin typeface="Plus Jakarta Sans SemiBold"/>
              </a:rPr>
              <a:t>Step 3</a:t>
            </a:r>
            <a:r>
              <a:rPr b="1" sz="1050" i="0" u="none">
                <a:solidFill>
                  <a:srgbClr val="F8FAFC"/>
                </a:solidFill>
                <a:latin typeface="Plus Jakarta Sans"/>
              </a:rPr>
              <a:t> Assign 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2225" y="3148012"/>
            <a:ext cx="2262187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Each point attaches to its nearest centroid.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6862" y="2852737"/>
            <a:ext cx="2262187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Move Centroid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6862" y="3167062"/>
            <a:ext cx="2262187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Recalculate centroid to the center of its new members.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0" y="4100512"/>
            <a:ext cx="15240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950" y="2852737"/>
            <a:ext cx="542925" cy="2190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57587" y="2852737"/>
            <a:ext cx="561975" cy="2190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86862" y="2852737"/>
            <a:ext cx="57150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6122789"/>
            <a:ext cx="11106150" cy="3446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815530"/>
            <a:ext cx="3575000" cy="1781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8425" y="2815530"/>
            <a:ext cx="3575000" cy="17811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3925" y="2815530"/>
            <a:ext cx="3575149" cy="17811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6218932"/>
            <a:ext cx="11430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90725" y="6208514"/>
            <a:ext cx="6067425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Point out how fast k-Means converges (often in fewer than 10 iterations for standard classroom datasets).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925" y="466725"/>
            <a:ext cx="1643062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2925" y="723900"/>
            <a:ext cx="4450556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k-Means Visual Convergence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523875"/>
            <a:ext cx="128587" cy="1047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2958405"/>
            <a:ext cx="3289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BBF24"/>
                </a:solidFill>
                <a:latin typeface="Plus Jakarta Sans"/>
              </a:rPr>
              <a:t>Iteration 0: Random Starts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206055"/>
            <a:ext cx="3289250" cy="10477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4310955"/>
            <a:ext cx="32892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Plus Jakarta Sans"/>
              </a:rPr>
              <a:t>Centroids placed at random coordinates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1300" y="2958405"/>
            <a:ext cx="3289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Plus Jakarta Sans"/>
              </a:rPr>
              <a:t>Iteration 1: Points Assigned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51300" y="3206055"/>
            <a:ext cx="3289250" cy="10477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451300" y="4310955"/>
            <a:ext cx="32892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Plus Jakarta Sans"/>
              </a:rPr>
              <a:t>Centroids shift toward cluster centers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6800" y="2977455"/>
            <a:ext cx="328939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4D399"/>
                </a:solidFill>
                <a:latin typeface="Plus Jakarta Sans"/>
              </a:rPr>
              <a:t>Final: Stability (Converged)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16800" y="3225105"/>
            <a:ext cx="3289399" cy="10477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16800" y="4330005"/>
            <a:ext cx="3289399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34D399"/>
                </a:solidFill>
                <a:latin typeface="Plus Jakarta Sans"/>
              </a:rPr>
              <a:t>Zero change in centroid position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5949553"/>
            <a:ext cx="11106150" cy="5179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090737"/>
            <a:ext cx="5438775" cy="3057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2500312"/>
            <a:ext cx="5438775" cy="914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3548062"/>
            <a:ext cx="5438775" cy="914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6132314"/>
            <a:ext cx="11430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90725" y="6035278"/>
            <a:ext cx="9496425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Demonstrate `kmeans_clustering.py` from the repo. Show how Matplotlib plots the data points with different colors for cluster 0 and 1, plus a big red X for the centroids.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925" y="466725"/>
            <a:ext cx="1547812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2925" y="723900"/>
            <a:ext cx="4980622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k-Means in Python (Scikit-Learn)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523875"/>
            <a:ext cx="109537" cy="1047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2950" y="2252662"/>
            <a:ext cx="5038725" cy="166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b="0" sz="825" i="0" u="none">
                <a:solidFill>
                  <a:srgbClr val="64748B"/>
                </a:solidFill>
                <a:latin typeface="JetBrains Mono"/>
              </a:rPr>
              <a:t>02_CLUSTERING/01_KMEANS/KMEANS_CLUSTERING.PY</a:t>
            </a:r>
            <a:r>
              <a:rPr b="0" sz="825" i="0" u="none">
                <a:solidFill>
                  <a:srgbClr val="64748B"/>
                </a:solidFill>
                <a:latin typeface="JetBrains Mono"/>
              </a:rPr>
              <a:t> </a:t>
            </a:r>
            <a:r>
              <a:rPr b="0" sz="825" i="0" u="none">
                <a:solidFill>
                  <a:srgbClr val="64748B"/>
                </a:solidFill>
                <a:latin typeface="JetBrains Mono"/>
              </a:rPr>
              <a:t>PYTHON 3.10+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2950" y="2466975"/>
            <a:ext cx="50387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9375" y="2700337"/>
            <a:ext cx="5019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Notice: </a:t>
            </a:r>
            <a:r>
              <a:rPr b="1" sz="1050" i="0" u="none">
                <a:solidFill>
                  <a:srgbClr val="38BDF8"/>
                </a:solidFill>
                <a:latin typeface="Plus Jakarta Sans"/>
              </a:rPr>
              <a:t>model.fit(X)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2909887"/>
            <a:ext cx="5019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Look closely: we pass ONLY </a:t>
            </a:r>
            <a:r>
              <a:rPr b="0" sz="975" i="0" u="none">
                <a:solidFill>
                  <a:srgbClr val="38BDF8"/>
                </a:solidFill>
                <a:latin typeface="Plus Jakarta Sans"/>
              </a:rPr>
              <a:t>X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! In classification we did </a:t>
            </a:r>
            <a:r>
              <a:rPr b="0" sz="975" i="0" u="none">
                <a:solidFill>
                  <a:srgbClr val="F87171"/>
                </a:solidFill>
                <a:latin typeface="Plus Jakarta Sans"/>
              </a:rPr>
              <a:t>.fit(X, y)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. In clustering, there is no </a:t>
            </a:r>
            <a:r>
              <a:rPr b="0" sz="975" i="0" u="none">
                <a:solidFill>
                  <a:srgbClr val="F87171"/>
                </a:solidFill>
                <a:latin typeface="Plus Jakarta Sans"/>
              </a:rPr>
              <a:t>y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label!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748087"/>
            <a:ext cx="5019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The Output Attributes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3957637"/>
            <a:ext cx="5019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• </a:t>
            </a:r>
            <a:r>
              <a:rPr b="0" sz="975" i="0" u="none">
                <a:solidFill>
                  <a:srgbClr val="34D399"/>
                </a:solidFill>
                <a:latin typeface="Plus Jakarta Sans"/>
              </a:rPr>
              <a:t>model.labels_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: Cluster tag for each data point.</a:t>
            </a:r>
            <a:r>
              <a:t>
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• </a:t>
            </a:r>
            <a:r>
              <a:rPr b="0" sz="975" i="0" u="none">
                <a:solidFill>
                  <a:srgbClr val="34D399"/>
                </a:solidFill>
                <a:latin typeface="Plus Jakarta Sans"/>
              </a:rPr>
              <a:t>model.cluster_centers_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: Coordinate points of centroids.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0300" y="4614862"/>
            <a:ext cx="13335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5949553"/>
            <a:ext cx="11106150" cy="5179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438400"/>
            <a:ext cx="11106150" cy="447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3076575"/>
            <a:ext cx="5419725" cy="1724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350" y="3157537"/>
            <a:ext cx="5419725" cy="1562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6132314"/>
            <a:ext cx="11430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90725" y="6035278"/>
            <a:ext cx="9496425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Classroom analogy: Imagine students entering an auditorium as strangers. First, desk-mates become pairs. Then pairs join neighboring benches. Finally, the whole class is one batch!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925" y="466725"/>
            <a:ext cx="1295400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2925" y="723900"/>
            <a:ext cx="6700837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Hierarchical Clustering: Bottom-Up Merging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475" y="2552700"/>
            <a:ext cx="107251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8FAFC"/>
                </a:solidFill>
                <a:latin typeface="Plus Jakarta Sans SemiBold"/>
              </a:rPr>
              <a:t>Hierarchical clustering builds a </a:t>
            </a:r>
            <a:r>
              <a:rPr b="0" sz="1350" i="0" u="none">
                <a:solidFill>
                  <a:srgbClr val="C084FC"/>
                </a:solidFill>
                <a:latin typeface="Plus Jakarta Sans SemiBold"/>
              </a:rPr>
              <a:t>tree of nested clusters</a:t>
            </a:r>
            <a:r>
              <a:rPr b="0" sz="1350" i="0" u="none">
                <a:solidFill>
                  <a:srgbClr val="F8FAFC"/>
                </a:solidFill>
                <a:latin typeface="Plus Jakarta Sans SemiBold"/>
              </a:rPr>
              <a:t> instead of a single flat partition.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523875"/>
            <a:ext cx="147637" cy="1047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8700" y="3295650"/>
            <a:ext cx="4733925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Agglomerative (Bottom-Up)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3357562"/>
            <a:ext cx="5019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Plus Jakarta Sans"/>
              </a:rPr>
              <a:t>The Merging Progression: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950" y="3319462"/>
            <a:ext cx="190500" cy="171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2950" y="3609975"/>
            <a:ext cx="5019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1. Start with every single data point as its own tiny cluster.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3905250"/>
            <a:ext cx="5019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2. Find the two closest points and </a:t>
            </a:r>
            <a:r>
              <a:rPr b="1" sz="1050" i="0" u="none">
                <a:solidFill>
                  <a:srgbClr val="94A3B8"/>
                </a:solidFill>
                <a:latin typeface="Plus Jakarta Sans"/>
              </a:rPr>
              <a:t>merge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950" y="4200525"/>
            <a:ext cx="50196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3. Repeat merging closest groups until all points become one single super-cluster.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3643312"/>
            <a:ext cx="50196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JetBrains Mono"/>
              </a:rPr>
              <a:t>Start: [A]   [B]   [C]   [D]   [E]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3881437"/>
            <a:ext cx="50196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FBBF24"/>
                </a:solidFill>
                <a:latin typeface="JetBrains Mono"/>
              </a:rPr>
              <a:t>↓ Merge closest: (A+B)   (C+D)   [E]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9375" y="4119562"/>
            <a:ext cx="50196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38BDF8"/>
                </a:solidFill>
                <a:latin typeface="JetBrains Mono"/>
              </a:rPr>
              <a:t>↓ Merge next closest: (A+B+E)   (C+D)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9375" y="4357687"/>
            <a:ext cx="50196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34D399"/>
                </a:solidFill>
                <a:latin typeface="JetBrains Mono"/>
              </a:rPr>
              <a:t>Final: (A + B + C + D + E) All in 1 Root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5949553"/>
            <a:ext cx="11106150" cy="5179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547937"/>
            <a:ext cx="5419725" cy="2143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2519362"/>
            <a:ext cx="5419725" cy="561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350" y="3195637"/>
            <a:ext cx="5419725" cy="704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350" y="4014787"/>
            <a:ext cx="5419725" cy="7048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6132314"/>
            <a:ext cx="11430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90725" y="6035278"/>
            <a:ext cx="9496425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Show how a dendrogram solves the "How do I choose K?" dilemma. By looking at the longest vertical lines without crossings, we identify the most natural cluster count.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925" y="466725"/>
            <a:ext cx="1747837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2925" y="723900"/>
            <a:ext cx="4510563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Understanding a Dendrogram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523875"/>
            <a:ext cx="109537" cy="1047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850" y="2709862"/>
            <a:ext cx="5095875" cy="1619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4850" y="4405312"/>
            <a:ext cx="50958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Plus Jakarta Sans"/>
              </a:rPr>
              <a:t>Cutting horizontal red line yields exactly 2 clusters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3175" y="2643187"/>
            <a:ext cx="51720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1. Leaves (Bottom)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3175" y="2814637"/>
            <a:ext cx="51720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Plus Jakarta Sans"/>
              </a:rPr>
              <a:t>Individual data points (A, B, C, D) before any merging begins.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3175" y="3319462"/>
            <a:ext cx="51720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084FC"/>
                </a:solidFill>
                <a:latin typeface="Plus Jakarta Sans"/>
              </a:rPr>
              <a:t>2. Vertical Height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3175" y="3490912"/>
            <a:ext cx="51720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Plus Jakarta Sans"/>
              </a:rPr>
              <a:t>Represents the Euclidean distance between clusters when they merged. Tall lines mean merged clusters were far apart.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3175" y="4138612"/>
            <a:ext cx="51720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7171"/>
                </a:solidFill>
                <a:latin typeface="Plus Jakarta Sans"/>
              </a:rPr>
              <a:t>3. Cutting the Dendrogram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3175" y="4310062"/>
            <a:ext cx="51720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Plus Jakarta Sans"/>
              </a:rPr>
              <a:t>Draw a horizontal line across. The number of vertical lines it slices through determines your number of clusters!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6122789"/>
            <a:ext cx="11106150" cy="3446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363092"/>
            <a:ext cx="5438775" cy="2686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2510730"/>
            <a:ext cx="5438775" cy="1066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3710880"/>
            <a:ext cx="5438775" cy="914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6218932"/>
            <a:ext cx="11430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90725" y="6208514"/>
            <a:ext cx="6877050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Open `hierarchical.py` in VS Code. Run it so the Matplotlib window pops up with the full color-coded dendrogram chart.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925" y="466725"/>
            <a:ext cx="1547812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2925" y="723900"/>
            <a:ext cx="4875609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Hierarchical Clustering in Python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523875"/>
            <a:ext cx="109537" cy="1047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2950" y="2525017"/>
            <a:ext cx="5038725" cy="166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b="0" sz="825" i="0" u="none">
                <a:solidFill>
                  <a:srgbClr val="64748B"/>
                </a:solidFill>
                <a:latin typeface="JetBrains Mono"/>
              </a:rPr>
              <a:t>02_CLUSTERING/02_HIERARCHICAL/HIERARCHICAL.PY</a:t>
            </a:r>
            <a:r>
              <a:rPr b="0" sz="825" i="0" u="none">
                <a:solidFill>
                  <a:srgbClr val="64748B"/>
                </a:solidFill>
                <a:latin typeface="JetBrains Mono"/>
              </a:rPr>
              <a:t> </a:t>
            </a:r>
            <a:r>
              <a:rPr b="0" sz="825" i="0" u="none">
                <a:solidFill>
                  <a:srgbClr val="64748B"/>
                </a:solidFill>
                <a:latin typeface="JetBrains Mono"/>
              </a:rPr>
              <a:t>PYTHON 3.10+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2950" y="2739330"/>
            <a:ext cx="50387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9375" y="2710755"/>
            <a:ext cx="5019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Scipy vs. Scikit-Learn 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2920305"/>
            <a:ext cx="50196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• </a:t>
            </a:r>
            <a:r>
              <a:rPr b="1" sz="975" i="0" u="none">
                <a:solidFill>
                  <a:srgbClr val="94A3B8"/>
                </a:solidFill>
                <a:latin typeface="Plus Jakarta Sans"/>
              </a:rPr>
              <a:t>SciPy: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Perfect for computing linkages and plotting the visual dendrogram tree.</a:t>
            </a:r>
            <a:r>
              <a:t>
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• </a:t>
            </a:r>
            <a:r>
              <a:rPr b="1" sz="975" i="0" u="none">
                <a:solidFill>
                  <a:srgbClr val="94A3B8"/>
                </a:solidFill>
                <a:latin typeface="Plus Jakarta Sans"/>
              </a:rPr>
              <a:t>Scikit-Learn: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Provides </a:t>
            </a:r>
            <a:r>
              <a:rPr b="0" sz="975" i="0" u="none">
                <a:solidFill>
                  <a:srgbClr val="38BDF8"/>
                </a:solidFill>
                <a:latin typeface="Plus Jakarta Sans"/>
              </a:rPr>
              <a:t>AgglomerativeClustering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to cut and output label arrays for every point.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910905"/>
            <a:ext cx="5019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Ward's Linkage Method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4120455"/>
            <a:ext cx="5019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The default linkage method </a:t>
            </a:r>
            <a:r>
              <a:rPr b="0" sz="975" i="0" u="none">
                <a:solidFill>
                  <a:srgbClr val="34D399"/>
                </a:solidFill>
                <a:latin typeface="Plus Jakarta Sans"/>
              </a:rPr>
              <a:t>'ward'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minimizes variance within clusters, producing neat, compact groups.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0300" y="4777680"/>
            <a:ext cx="13335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6122789"/>
            <a:ext cx="11106150" cy="3446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2925" y="2520255"/>
            <a:ext cx="11106150" cy="2371725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2925" y="2520255"/>
          <a:ext cx="11096624" cy="2371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441227"/>
                <a:gridCol w="4327624"/>
                <a:gridCol w="4327773"/>
              </a:tblGrid>
              <a:tr h="395287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Feature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 k-Means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084FC"/>
                          </a:solidFill>
                          <a:latin typeface="Plus Jakarta Sans"/>
                        </a:rPr>
                        <a:t> Hierarchical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95287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Specification of 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Must specify K strictly beforehand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Does not require K initially (dendrogram decides)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287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Centroids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Relies heavily on centroids and means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Does not use centroids; merges by pair distances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287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Visual Output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Partitioned scatter points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Full hierarchical Dendrogram tree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287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Dataset Scalability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Very fast: Works on millions of records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Computationally heavy: Slow on massive datasets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529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When to Choose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Large, flat e-commerce / user datasets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Taxonomies, biology, small nested datasets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6218932"/>
            <a:ext cx="114300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0725" y="6208514"/>
            <a:ext cx="7839075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Summarize: If you have 1,000,000 records, choose k-Means because hierarchical clustering pairwise distance matrix will run out of RAM!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466725"/>
            <a:ext cx="2066925" cy="219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2925" y="723900"/>
            <a:ext cx="5335666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k-Means vs. Hierarchical Clustering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7687" y="2925067"/>
            <a:ext cx="244122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88915" y="2925067"/>
            <a:ext cx="432762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6539" y="2925067"/>
            <a:ext cx="432777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523875"/>
            <a:ext cx="147637" cy="10477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47687" y="3315592"/>
            <a:ext cx="244122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88915" y="3315592"/>
            <a:ext cx="432762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6539" y="3315592"/>
            <a:ext cx="432777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7687" y="3706117"/>
            <a:ext cx="244122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88915" y="3706117"/>
            <a:ext cx="432762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6539" y="3706117"/>
            <a:ext cx="432777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7687" y="4096642"/>
            <a:ext cx="244122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88915" y="4096642"/>
            <a:ext cx="432762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6539" y="4096642"/>
            <a:ext cx="432777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7687" y="4487167"/>
            <a:ext cx="244122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88915" y="4487167"/>
            <a:ext cx="432762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6539" y="4487167"/>
            <a:ext cx="432777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0365" y="2672655"/>
            <a:ext cx="176212" cy="1333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7989" y="2672655"/>
            <a:ext cx="176212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5949553"/>
            <a:ext cx="11106150" cy="5179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700337"/>
            <a:ext cx="11106150" cy="1838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3975" y="2938462"/>
            <a:ext cx="1924050" cy="4286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3668" y="3795712"/>
            <a:ext cx="1085850" cy="504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3818" y="3795712"/>
            <a:ext cx="904875" cy="5048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2993" y="3795712"/>
            <a:ext cx="1028700" cy="5048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9031" y="3795712"/>
            <a:ext cx="885825" cy="5048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89156" y="3795712"/>
            <a:ext cx="1019175" cy="504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3425" y="6132314"/>
            <a:ext cx="114300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90725" y="6035278"/>
            <a:ext cx="9496425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Have students recite the 5 one-word summaries: Decision Tree → Questions; k-NN → Neighbors; Naive Bayes → Probability; k-Means → Centroids; Hierarchical → Merging.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2925" y="466725"/>
            <a:ext cx="1485900" cy="2190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2925" y="723900"/>
            <a:ext cx="5130641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Complete Mining Techniques Map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" y="523875"/>
            <a:ext cx="128587" cy="1047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683668" y="3538537"/>
            <a:ext cx="32480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8BDF8"/>
                </a:solidFill>
                <a:latin typeface="Plus Jakarta Sans"/>
              </a:rPr>
              <a:t>CLASSIFICATION (Supervised)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89031" y="3538537"/>
            <a:ext cx="20193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4D399"/>
                </a:solidFill>
                <a:latin typeface="Plus Jakarta Sans"/>
              </a:rPr>
              <a:t>CLUSTERING (Unsupervised)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26543" y="3900487"/>
            <a:ext cx="800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F8FAFC"/>
                </a:solidFill>
                <a:latin typeface="Plus Jakarta Sans"/>
              </a:rPr>
              <a:t>Decision Tree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26543" y="4071937"/>
            <a:ext cx="8001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38BDF8"/>
                </a:solidFill>
                <a:latin typeface="Plus Jakarta Sans"/>
              </a:rPr>
              <a:t>“Questions”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6693" y="3900487"/>
            <a:ext cx="6191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F8FAFC"/>
                </a:solidFill>
                <a:latin typeface="Plus Jakarta Sans"/>
              </a:rPr>
              <a:t>k-NN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6693" y="4071937"/>
            <a:ext cx="6191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38BDF8"/>
                </a:solidFill>
                <a:latin typeface="Plus Jakarta Sans"/>
              </a:rPr>
              <a:t>“Neighbors”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5868" y="3900487"/>
            <a:ext cx="742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F8FAFC"/>
                </a:solidFill>
                <a:latin typeface="Plus Jakarta Sans"/>
              </a:rPr>
              <a:t>Naive Bayes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5868" y="4071937"/>
            <a:ext cx="7429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38BDF8"/>
                </a:solidFill>
                <a:latin typeface="Plus Jakarta Sans"/>
              </a:rPr>
              <a:t>“Probability”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1906" y="3900487"/>
            <a:ext cx="6000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F8FAFC"/>
                </a:solidFill>
                <a:latin typeface="Plus Jakarta Sans"/>
              </a:rPr>
              <a:t>k-Means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1906" y="4071937"/>
            <a:ext cx="6000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34D399"/>
                </a:solidFill>
                <a:latin typeface="Plus Jakarta Sans"/>
              </a:rPr>
              <a:t>“Centroids”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32031" y="3900487"/>
            <a:ext cx="7334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F8FAFC"/>
                </a:solidFill>
                <a:latin typeface="Plus Jakarta Sans"/>
              </a:rPr>
              <a:t>Hierarchical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32031" y="4071937"/>
            <a:ext cx="7334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34D399"/>
                </a:solidFill>
                <a:latin typeface="Plus Jakarta Sans"/>
              </a:rPr>
              <a:t>“Merging”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6122789"/>
            <a:ext cx="11106150" cy="3446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3563242"/>
            <a:ext cx="11106150" cy="1438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2410717"/>
            <a:ext cx="1901130" cy="9239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4105" y="2410717"/>
            <a:ext cx="1901130" cy="9239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5285" y="2410717"/>
            <a:ext cx="1901130" cy="9239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6466" y="2410717"/>
            <a:ext cx="1901130" cy="9239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7646" y="2410717"/>
            <a:ext cx="1901130" cy="9239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9665" y="2572642"/>
            <a:ext cx="24765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70845" y="2572642"/>
            <a:ext cx="24765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72026" y="2572642"/>
            <a:ext cx="24765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3206" y="2572642"/>
            <a:ext cx="24765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74387" y="2572642"/>
            <a:ext cx="24765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3425" y="6218932"/>
            <a:ext cx="114300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990725" y="6208514"/>
            <a:ext cx="8810625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Instruct all students to clone or pull the repository onto their lab machines. Every folder has a clean, standalone script that matches today's slide numbers.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2925" y="466725"/>
            <a:ext cx="1900237" cy="2190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2925" y="723900"/>
            <a:ext cx="592074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From Theory to Python Implementation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" y="3782317"/>
            <a:ext cx="1044892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F8FAFC"/>
                </a:solidFill>
                <a:latin typeface="Plus Jakarta Sans"/>
              </a:rPr>
              <a:t>Our Repository Architecture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" y="523875"/>
            <a:ext cx="109537" cy="1047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4850" y="2896492"/>
            <a:ext cx="15772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F8FAFC"/>
                </a:solidFill>
                <a:latin typeface="Plus Jakarta Sans"/>
              </a:rPr>
              <a:t>Concept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850" y="3048892"/>
            <a:ext cx="157728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Plus Jakarta Sans"/>
              </a:rPr>
              <a:t>Intuitive real-world analogy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58355" y="2791717"/>
            <a:ext cx="171450" cy="190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006030" y="2896492"/>
            <a:ext cx="15772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38BDF8"/>
                </a:solidFill>
                <a:latin typeface="Plus Jakarta Sans"/>
              </a:rPr>
              <a:t>Small Example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06030" y="3048892"/>
            <a:ext cx="157728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Plus Jakarta Sans"/>
              </a:rPr>
              <a:t>Manual dry-run on 5 rows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59535" y="2791717"/>
            <a:ext cx="171450" cy="1905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307210" y="2896492"/>
            <a:ext cx="15772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A855F7"/>
                </a:solidFill>
                <a:latin typeface="Plus Jakarta Sans"/>
              </a:rPr>
              <a:t>Scikit-Learn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7210" y="3048892"/>
            <a:ext cx="157728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Plus Jakarta Sans"/>
              </a:rPr>
              <a:t>.fit() and .predict()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60716" y="2791717"/>
            <a:ext cx="171450" cy="190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608391" y="2896492"/>
            <a:ext cx="15772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FBBF24"/>
                </a:solidFill>
                <a:latin typeface="Plus Jakarta Sans"/>
              </a:rPr>
              <a:t>Visual Plots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8391" y="3048892"/>
            <a:ext cx="157728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Plus Jakarta Sans"/>
              </a:rPr>
              <a:t>Matplotlib charts &amp; trees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61896" y="2791717"/>
            <a:ext cx="171450" cy="1905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909571" y="2896492"/>
            <a:ext cx="15772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34D399"/>
                </a:solidFill>
                <a:latin typeface="Plus Jakarta Sans"/>
              </a:rPr>
              <a:t>Independent Lab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9571" y="3048892"/>
            <a:ext cx="157728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F8FAFC"/>
                </a:solidFill>
                <a:latin typeface="Plus Jakarta Sans"/>
              </a:rPr>
              <a:t>Hands-on coding mastery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2950" y="3801367"/>
            <a:ext cx="161925" cy="14287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861393" y="4058542"/>
            <a:ext cx="1611808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01_classification/</a:t>
            </a:r>
            <a:r>
              <a:t>
</a:t>
            </a:r>
            <a:r>
              <a:rPr b="0" sz="975" i="0" u="none">
                <a:solidFill>
                  <a:srgbClr val="CBD5E1"/>
                </a:solidFill>
                <a:latin typeface="JetBrains Mono"/>
              </a:rPr>
              <a:t>   └ 01_decision_tree/</a:t>
            </a:r>
            <a:r>
              <a:t>
</a:t>
            </a:r>
            <a:r>
              <a:rPr b="0" sz="975" i="0" u="none">
                <a:solidFill>
                  <a:srgbClr val="CBD5E1"/>
                </a:solidFill>
                <a:latin typeface="JetBrains Mono"/>
              </a:rPr>
              <a:t>   └ 02_knn/</a:t>
            </a:r>
            <a:r>
              <a:t>
</a:t>
            </a:r>
            <a:r>
              <a:rPr b="0" sz="975" i="0" u="none">
                <a:solidFill>
                  <a:srgbClr val="CBD5E1"/>
                </a:solidFill>
                <a:latin typeface="JetBrains Mono"/>
              </a:rPr>
              <a:t>   └ 03_naive_bayes/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10088" y="4058542"/>
            <a:ext cx="9525" cy="57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6500" y="4058542"/>
            <a:ext cx="2373808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4D399"/>
                </a:solidFill>
                <a:latin typeface="JetBrains Mono"/>
              </a:rPr>
              <a:t>02_clustering/</a:t>
            </a:r>
            <a:r>
              <a:t>
</a:t>
            </a:r>
            <a:r>
              <a:rPr b="0" sz="975" i="0" u="none">
                <a:solidFill>
                  <a:srgbClr val="CBD5E1"/>
                </a:solidFill>
                <a:latin typeface="JetBrains Mono"/>
              </a:rPr>
              <a:t>   └ 01_kmeans/</a:t>
            </a:r>
            <a:r>
              <a:t>
</a:t>
            </a:r>
            <a:r>
              <a:rPr b="0" sz="975" i="0" u="none">
                <a:solidFill>
                  <a:srgbClr val="CBD5E1"/>
                </a:solidFill>
                <a:latin typeface="JetBrains Mono"/>
              </a:rPr>
              <a:t>   └ 02_hierarchical_clustering/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5949553"/>
            <a:ext cx="11106150" cy="5179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1938337"/>
            <a:ext cx="11106150" cy="581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2633662"/>
            <a:ext cx="11106150" cy="581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3328987"/>
            <a:ext cx="11106150" cy="581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4024312"/>
            <a:ext cx="11106150" cy="581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925" y="4719637"/>
            <a:ext cx="11106150" cy="581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" y="6132314"/>
            <a:ext cx="114300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90725" y="6035278"/>
            <a:ext cx="9496425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Engage the classroom! Call on individual students around the room for each question. Answers: 1. Supervised; 2. Number of nearest neighbors; 3. Feature independence; 4. Mean center point of cluster; 5. Tree showing cluster merge hierarchy.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2925" y="466725"/>
            <a:ext cx="1714500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2925" y="723900"/>
            <a:ext cx="48056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Quick 5-Minute Classroom Quiz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523875"/>
            <a:ext cx="119062" cy="1047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2950" y="2062162"/>
            <a:ext cx="107251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1. Is Classification supervised or unsupervised?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2252662"/>
            <a:ext cx="107251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Plus Jakarta Sans"/>
              </a:rPr>
              <a:t>Hint: Do we give the true answers during training?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2757487"/>
            <a:ext cx="107251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2. In k-NN, what does K stand for?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2947987"/>
            <a:ext cx="107251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Plus Jakarta Sans"/>
              </a:rPr>
              <a:t>Hint: Think about who votes on the new point.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950" y="3452812"/>
            <a:ext cx="107251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3. Why is Naive Bayes called “Naive”?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" y="3643312"/>
            <a:ext cx="107251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Plus Jakarta Sans"/>
              </a:rPr>
              <a:t>Hint: What bold assumption does it make about features?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950" y="4148137"/>
            <a:ext cx="107251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4. What is a centroid in k-Means?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4338637"/>
            <a:ext cx="107251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Plus Jakarta Sans"/>
              </a:rPr>
              <a:t>Hint: What geometric property does it represent for its cluster members?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950" y="4843462"/>
            <a:ext cx="107251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5. What does a Dendrogram represent in Hierarchical Clustering?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950" y="5033962"/>
            <a:ext cx="107251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Plus Jakarta Sans"/>
              </a:rPr>
              <a:t>Hint: How does it visualize distances and cluster merges?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6122789"/>
            <a:ext cx="11106150" cy="3446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4312" y="3960911"/>
            <a:ext cx="4143375" cy="1123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2327374"/>
            <a:ext cx="5419725" cy="14049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350" y="2327374"/>
            <a:ext cx="5419725" cy="140493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06125" y="466725"/>
            <a:ext cx="742950" cy="2571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6218932"/>
            <a:ext cx="11430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90725" y="6208514"/>
            <a:ext cx="5800725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Thank the students for their attention. Direct them to start the hands-on lab exercise in their machines.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925" y="466725"/>
            <a:ext cx="1300162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2925" y="723900"/>
            <a:ext cx="4350543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8FAFC"/>
                </a:solidFill>
                <a:latin typeface="Plus Jakarta Sans"/>
              </a:rPr>
              <a:t>Key Takeaways &amp; 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6737" y="4141886"/>
            <a:ext cx="343852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b="1" sz="1500" i="0" u="none">
                <a:solidFill>
                  <a:srgbClr val="F8FAFC"/>
                </a:solidFill>
                <a:latin typeface="Plus Jakarta Sans"/>
              </a:rPr>
              <a:t>“Understand the core intuition first.</a:t>
            </a:r>
            <a:r>
              <a:t>
</a:t>
            </a:r>
            <a:r>
              <a:rPr b="1" sz="1500" i="0" u="none">
                <a:solidFill>
                  <a:srgbClr val="38BDF8"/>
                </a:solidFill>
                <a:latin typeface="Plus Jakarta Sans"/>
              </a:rPr>
              <a:t>Then let Python do the heavy lifting.”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6737" y="4751486"/>
            <a:ext cx="34385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Plus Jakarta Sans"/>
              </a:rPr>
              <a:t>MITK • Department of Computer Applications • M.Tech CSE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523875"/>
            <a:ext cx="147637" cy="1047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2950" y="2546449"/>
            <a:ext cx="5019675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Plus Jakarta Sans"/>
              </a:rPr>
              <a:t>Classification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2546449"/>
            <a:ext cx="5019675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34D399"/>
                </a:solidFill>
                <a:latin typeface="Plus Jakarta Sans"/>
              </a:rPr>
              <a:t>Clustering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2860774"/>
            <a:ext cx="50196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• </a:t>
            </a:r>
            <a:r>
              <a:rPr b="1" sz="975" i="0" u="none">
                <a:solidFill>
                  <a:srgbClr val="94A3B8"/>
                </a:solidFill>
                <a:latin typeface="Plus Jakarta Sans"/>
              </a:rPr>
              <a:t>Decision Tree: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If-Else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3103661"/>
            <a:ext cx="50196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• </a:t>
            </a:r>
            <a:r>
              <a:rPr b="1" sz="975" i="0" u="none">
                <a:solidFill>
                  <a:srgbClr val="94A3B8"/>
                </a:solidFill>
                <a:latin typeface="Plus Jakarta Sans"/>
              </a:rPr>
              <a:t>k-NN: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Look at closest neighbors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950" y="3346549"/>
            <a:ext cx="50196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• </a:t>
            </a:r>
            <a:r>
              <a:rPr b="1" sz="975" i="0" u="none">
                <a:solidFill>
                  <a:srgbClr val="94A3B8"/>
                </a:solidFill>
                <a:latin typeface="Plus Jakarta Sans"/>
              </a:rPr>
              <a:t>Naive Bayes: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Calculate probabilities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2860774"/>
            <a:ext cx="50196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• </a:t>
            </a:r>
            <a:r>
              <a:rPr b="1" sz="975" i="0" u="none">
                <a:solidFill>
                  <a:srgbClr val="94A3B8"/>
                </a:solidFill>
                <a:latin typeface="Plus Jakarta Sans"/>
              </a:rPr>
              <a:t>k-Means: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Discover centroids iteratively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3103661"/>
            <a:ext cx="50196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• </a:t>
            </a:r>
            <a:r>
              <a:rPr b="1" sz="975" i="0" u="none">
                <a:solidFill>
                  <a:srgbClr val="94A3B8"/>
                </a:solidFill>
                <a:latin typeface="Plus Jakarta Sans"/>
              </a:rPr>
              <a:t>Hierarchical: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Build bottom-up merge tree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9375" y="3346549"/>
            <a:ext cx="50196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• </a:t>
            </a:r>
            <a:r>
              <a:rPr b="1" sz="975" i="0" u="none">
                <a:solidFill>
                  <a:srgbClr val="94A3B8"/>
                </a:solidFill>
                <a:latin typeface="Plus Jakarta Sans"/>
              </a:rPr>
              <a:t>Unsupervised: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Zero labels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